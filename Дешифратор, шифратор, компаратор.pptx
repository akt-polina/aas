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1pPr>
    <a:lvl2pPr marL="0" marR="0" indent="457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2pPr>
    <a:lvl3pPr marL="0" marR="0" indent="914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3pPr>
    <a:lvl4pPr marL="0" marR="0" indent="1371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4pPr>
    <a:lvl5pPr marL="0" marR="0" indent="18288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5pPr>
    <a:lvl6pPr marL="0" marR="0" indent="22860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6pPr>
    <a:lvl7pPr marL="0" marR="0" indent="2743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7pPr>
    <a:lvl8pPr marL="0" marR="0" indent="3200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8pPr>
    <a:lvl9pPr marL="0" marR="0" indent="3657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2">
              <a:hueOff val="-357243"/>
              <a:satOff val="7293"/>
              <a:lumOff val="8906"/>
            </a:schemeClr>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3">
              <a:satOff val="1412"/>
              <a:lumOff val="16412"/>
            </a:schemeClr>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atOff val="1412"/>
                  <a:lumOff val="16412"/>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6E937E"/>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wholeTbl>
    <a:band2H>
      <a:tcTxStyle b="def" i="def"/>
      <a:tcStyle>
        <a:tcBdr/>
        <a:fill>
          <a:solidFill>
            <a:srgbClr val="FFF171"/>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A51B"/>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E1A84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4">
              <a:hueOff val="103425"/>
              <a:satOff val="-7243"/>
              <a:lumOff val="9921"/>
            </a:schemeClr>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chemeClr val="accent5"/>
          </a:solidFill>
        </a:fill>
      </a:tcStyle>
    </a:band2H>
    <a:firstCol>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lumOff val="-14283"/>
            </a:schemeClr>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5">
                  <a:lumOff val="-14283"/>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satOff val="-6299"/>
              <a:lumOff val="-32309"/>
            </a:schemeClr>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EDEEEE"/>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5D5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Заголовок">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 name="Автор и дата"/>
          <p:cNvSpPr txBox="1"/>
          <p:nvPr>
            <p:ph type="body" sz="quarter" idx="21" hasCustomPrompt="1"/>
          </p:nvPr>
        </p:nvSpPr>
        <p:spPr>
          <a:xfrm>
            <a:off x="1206500" y="12268950"/>
            <a:ext cx="21971000" cy="660401"/>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Автор и дата</a:t>
            </a:r>
          </a:p>
        </p:txBody>
      </p:sp>
      <p:sp>
        <p:nvSpPr>
          <p:cNvPr id="12" name="Уровень текста 1…"/>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Подзаголовок презентации</a:t>
            </a:r>
          </a:p>
          <a:p>
            <a:pPr lvl="1"/>
            <a:r>
              <a:t/>
            </a:r>
          </a:p>
          <a:p>
            <a:pPr lvl="2"/>
            <a:r>
              <a:t/>
            </a:r>
          </a:p>
          <a:p>
            <a:pPr lvl="3"/>
            <a:r>
              <a:t/>
            </a:r>
          </a:p>
          <a:p>
            <a:pPr lvl="4"/>
            <a:r>
              <a:t/>
            </a:r>
          </a:p>
        </p:txBody>
      </p:sp>
      <p:sp>
        <p:nvSpPr>
          <p:cNvPr id="13" name="Заголовок презентации"/>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Заголовок презентации</a:t>
            </a:r>
          </a:p>
        </p:txBody>
      </p:sp>
      <p:sp>
        <p:nvSpPr>
          <p:cNvPr id="14" name="Номер слайда"/>
          <p:cNvSpPr txBox="1"/>
          <p:nvPr>
            <p:ph type="sldNum" sz="quarter" idx="2"/>
          </p:nvPr>
        </p:nvSpPr>
        <p:spPr>
          <a:xfrm>
            <a:off x="23558499" y="1246072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Заголовок и фото">
    <p:bg>
      <p:bgPr>
        <a:solidFill>
          <a:srgbClr val="FFFFFF"/>
        </a:solidFill>
      </p:bgPr>
    </p:bg>
    <p:spTree>
      <p:nvGrpSpPr>
        <p:cNvPr id="1" name=""/>
        <p:cNvGrpSpPr/>
        <p:nvPr/>
      </p:nvGrpSpPr>
      <p:grpSpPr>
        <a:xfrm>
          <a:off x="0" y="0"/>
          <a:ext cx="0" cy="0"/>
          <a:chOff x="0" y="0"/>
          <a:chExt cx="0" cy="0"/>
        </a:xfrm>
      </p:grpSpPr>
      <p:sp>
        <p:nvSpPr>
          <p:cNvPr id="21" name="Изогнутые белые арки на отражающей поверхности серого пола"/>
          <p:cNvSpPr/>
          <p:nvPr>
            <p:ph type="pic" idx="21"/>
          </p:nvPr>
        </p:nvSpPr>
        <p:spPr>
          <a:xfrm>
            <a:off x="-76200" y="-558800"/>
            <a:ext cx="24574500" cy="14839510"/>
          </a:xfrm>
          <a:prstGeom prst="rect">
            <a:avLst/>
          </a:prstGeom>
        </p:spPr>
        <p:txBody>
          <a:bodyPr lIns="91439" tIns="45719" rIns="91439" bIns="45719">
            <a:noAutofit/>
          </a:bodyPr>
          <a:lstStyle/>
          <a:p>
            <a:pPr/>
          </a:p>
        </p:txBody>
      </p:sp>
      <p:sp>
        <p:nvSpPr>
          <p:cNvPr id="22" name="Автор и дата"/>
          <p:cNvSpPr txBox="1"/>
          <p:nvPr>
            <p:ph type="body" sz="quarter" idx="22" hasCustomPrompt="1"/>
          </p:nvPr>
        </p:nvSpPr>
        <p:spPr>
          <a:xfrm>
            <a:off x="1206500" y="12268200"/>
            <a:ext cx="21971000" cy="660400"/>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Автор и дата</a:t>
            </a:r>
          </a:p>
        </p:txBody>
      </p:sp>
      <p:sp>
        <p:nvSpPr>
          <p:cNvPr id="23" name="Уровень текста 1…"/>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Подзаголовок презентации</a:t>
            </a:r>
          </a:p>
          <a:p>
            <a:pPr lvl="1"/>
            <a:r>
              <a:t/>
            </a:r>
          </a:p>
          <a:p>
            <a:pPr lvl="2"/>
            <a:r>
              <a:t/>
            </a:r>
          </a:p>
          <a:p>
            <a:pPr lvl="3"/>
            <a:r>
              <a:t/>
            </a:r>
          </a:p>
          <a:p>
            <a:pPr lvl="4"/>
            <a:r>
              <a:t/>
            </a:r>
          </a:p>
        </p:txBody>
      </p:sp>
      <p:sp>
        <p:nvSpPr>
          <p:cNvPr id="24" name="Заголовок презентации"/>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Заголовок презентации</a:t>
            </a:r>
          </a:p>
        </p:txBody>
      </p:sp>
      <p:sp>
        <p:nvSpPr>
          <p:cNvPr id="25"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Заголовок и фото (вариант)">
    <p:spTree>
      <p:nvGrpSpPr>
        <p:cNvPr id="1" name=""/>
        <p:cNvGrpSpPr/>
        <p:nvPr/>
      </p:nvGrpSpPr>
      <p:grpSpPr>
        <a:xfrm>
          <a:off x="0" y="0"/>
          <a:ext cx="0" cy="0"/>
          <a:chOff x="0" y="0"/>
          <a:chExt cx="0" cy="0"/>
        </a:xfrm>
      </p:grpSpPr>
      <p:sp>
        <p:nvSpPr>
          <p:cNvPr id="32" name="Вид снизу на высокое здание с зеркальными окнами"/>
          <p:cNvSpPr/>
          <p:nvPr>
            <p:ph type="pic" idx="21"/>
          </p:nvPr>
        </p:nvSpPr>
        <p:spPr>
          <a:xfrm>
            <a:off x="8140700" y="-1"/>
            <a:ext cx="20574000" cy="13716001"/>
          </a:xfrm>
          <a:prstGeom prst="rect">
            <a:avLst/>
          </a:prstGeom>
        </p:spPr>
        <p:txBody>
          <a:bodyPr lIns="91439" tIns="45719" rIns="91439" bIns="45719">
            <a:noAutofit/>
          </a:bodyPr>
          <a:lstStyle/>
          <a:p>
            <a:pPr/>
          </a:p>
        </p:txBody>
      </p:sp>
      <p:sp>
        <p:nvSpPr>
          <p:cNvPr id="33" name="Заголовок слайда"/>
          <p:cNvSpPr txBox="1"/>
          <p:nvPr>
            <p:ph type="title" hasCustomPrompt="1"/>
          </p:nvPr>
        </p:nvSpPr>
        <p:spPr>
          <a:xfrm>
            <a:off x="1206500" y="1333500"/>
            <a:ext cx="9779000" cy="5882273"/>
          </a:xfrm>
          <a:prstGeom prst="rect">
            <a:avLst/>
          </a:prstGeom>
        </p:spPr>
        <p:txBody>
          <a:bodyPr anchor="b"/>
          <a:lstStyle/>
          <a:p>
            <a:pPr/>
            <a:r>
              <a:t>Заголовок слайда</a:t>
            </a:r>
          </a:p>
        </p:txBody>
      </p:sp>
      <p:sp>
        <p:nvSpPr>
          <p:cNvPr id="34" name="Уровень текста 1…"/>
          <p:cNvSpPr txBox="1"/>
          <p:nvPr>
            <p:ph type="body" sz="quarter" idx="1" hasCustomPrompt="1"/>
          </p:nvPr>
        </p:nvSpPr>
        <p:spPr>
          <a:xfrm>
            <a:off x="1206500" y="7150100"/>
            <a:ext cx="9779000" cy="5385424"/>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Подзаголовок слайда</a:t>
            </a:r>
          </a:p>
          <a:p>
            <a:pPr lvl="1"/>
            <a:r>
              <a:t/>
            </a:r>
          </a:p>
          <a:p>
            <a:pPr lvl="2"/>
            <a:r>
              <a:t/>
            </a:r>
          </a:p>
          <a:p>
            <a:pPr lvl="3"/>
            <a:r>
              <a:t/>
            </a:r>
          </a:p>
          <a:p>
            <a:pPr lvl="4"/>
            <a:r>
              <a:t/>
            </a:r>
          </a:p>
        </p:txBody>
      </p:sp>
      <p:sp>
        <p:nvSpPr>
          <p:cNvPr id="35"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Заголовок и пункты">
    <p:spTree>
      <p:nvGrpSpPr>
        <p:cNvPr id="1" name=""/>
        <p:cNvGrpSpPr/>
        <p:nvPr/>
      </p:nvGrpSpPr>
      <p:grpSpPr>
        <a:xfrm>
          <a:off x="0" y="0"/>
          <a:ext cx="0" cy="0"/>
          <a:chOff x="0" y="0"/>
          <a:chExt cx="0" cy="0"/>
        </a:xfrm>
      </p:grpSpPr>
      <p:sp>
        <p:nvSpPr>
          <p:cNvPr id="42" name="Подзаголовок слайда"/>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Подзаголовок слайда</a:t>
            </a:r>
          </a:p>
        </p:txBody>
      </p:sp>
      <p:sp>
        <p:nvSpPr>
          <p:cNvPr id="43" name="Заголовок слайда"/>
          <p:cNvSpPr txBox="1"/>
          <p:nvPr>
            <p:ph type="title" hasCustomPrompt="1"/>
          </p:nvPr>
        </p:nvSpPr>
        <p:spPr>
          <a:prstGeom prst="rect">
            <a:avLst/>
          </a:prstGeom>
        </p:spPr>
        <p:txBody>
          <a:bodyPr/>
          <a:lstStyle/>
          <a:p>
            <a:pPr/>
            <a:r>
              <a:t>Заголовок слайда</a:t>
            </a:r>
          </a:p>
        </p:txBody>
      </p:sp>
      <p:sp>
        <p:nvSpPr>
          <p:cNvPr id="44" name="Уровень текста 1…"/>
          <p:cNvSpPr txBox="1"/>
          <p:nvPr>
            <p:ph type="body" idx="1" hasCustomPrompt="1"/>
          </p:nvPr>
        </p:nvSpPr>
        <p:spPr>
          <a:prstGeom prst="rect">
            <a:avLst/>
          </a:prstGeom>
        </p:spPr>
        <p:txBody>
          <a:bodyPr/>
          <a:lstStyle/>
          <a:p>
            <a:pPr/>
            <a:r>
              <a:t>Текст пункта на слайде</a:t>
            </a:r>
          </a:p>
          <a:p>
            <a:pPr lvl="1"/>
            <a:r>
              <a:t/>
            </a:r>
          </a:p>
          <a:p>
            <a:pPr lvl="2"/>
            <a:r>
              <a:t/>
            </a:r>
          </a:p>
          <a:p>
            <a:pPr lvl="3"/>
            <a:r>
              <a:t/>
            </a:r>
          </a:p>
          <a:p>
            <a:pPr lvl="4"/>
            <a:r>
              <a:t/>
            </a:r>
          </a:p>
        </p:txBody>
      </p:sp>
      <p:sp>
        <p:nvSpPr>
          <p:cNvPr id="45"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Пункты">
    <p:spTree>
      <p:nvGrpSpPr>
        <p:cNvPr id="1" name=""/>
        <p:cNvGrpSpPr/>
        <p:nvPr/>
      </p:nvGrpSpPr>
      <p:grpSpPr>
        <a:xfrm>
          <a:off x="0" y="0"/>
          <a:ext cx="0" cy="0"/>
          <a:chOff x="0" y="0"/>
          <a:chExt cx="0" cy="0"/>
        </a:xfrm>
      </p:grpSpPr>
      <p:sp>
        <p:nvSpPr>
          <p:cNvPr id="52" name="Уровень текста 1…"/>
          <p:cNvSpPr txBox="1"/>
          <p:nvPr>
            <p:ph type="body" idx="1" hasCustomPrompt="1"/>
          </p:nvPr>
        </p:nvSpPr>
        <p:spPr>
          <a:prstGeom prst="rect">
            <a:avLst/>
          </a:prstGeom>
        </p:spPr>
        <p:txBody>
          <a:bodyPr/>
          <a:lstStyle/>
          <a:p>
            <a:pPr/>
            <a:r>
              <a:t>Текст пункта на слайде</a:t>
            </a:r>
          </a:p>
          <a:p>
            <a:pPr lvl="1"/>
            <a:r>
              <a:t/>
            </a:r>
          </a:p>
          <a:p>
            <a:pPr lvl="2"/>
            <a:r>
              <a:t/>
            </a:r>
          </a:p>
          <a:p>
            <a:pPr lvl="3"/>
            <a:r>
              <a:t/>
            </a:r>
          </a:p>
          <a:p>
            <a:pPr lvl="4"/>
            <a:r>
              <a:t/>
            </a:r>
          </a:p>
        </p:txBody>
      </p:sp>
      <p:sp>
        <p:nvSpPr>
          <p:cNvPr id="53"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Заголовок, пункты и фото">
    <p:spTree>
      <p:nvGrpSpPr>
        <p:cNvPr id="1" name=""/>
        <p:cNvGrpSpPr/>
        <p:nvPr/>
      </p:nvGrpSpPr>
      <p:grpSpPr>
        <a:xfrm>
          <a:off x="0" y="0"/>
          <a:ext cx="0" cy="0"/>
          <a:chOff x="0" y="0"/>
          <a:chExt cx="0" cy="0"/>
        </a:xfrm>
      </p:grpSpPr>
      <p:sp>
        <p:nvSpPr>
          <p:cNvPr id="60" name="Частичный вид на потолок с деревянными панелями"/>
          <p:cNvSpPr/>
          <p:nvPr>
            <p:ph type="pic" idx="21"/>
          </p:nvPr>
        </p:nvSpPr>
        <p:spPr>
          <a:xfrm>
            <a:off x="9588500" y="-482600"/>
            <a:ext cx="21513800" cy="14300200"/>
          </a:xfrm>
          <a:prstGeom prst="rect">
            <a:avLst/>
          </a:prstGeom>
        </p:spPr>
        <p:txBody>
          <a:bodyPr lIns="91439" tIns="45719" rIns="91439" bIns="45719">
            <a:noAutofit/>
          </a:bodyPr>
          <a:lstStyle/>
          <a:p>
            <a:pPr/>
          </a:p>
        </p:txBody>
      </p:sp>
      <p:sp>
        <p:nvSpPr>
          <p:cNvPr id="61" name="Подзаголовок слайда"/>
          <p:cNvSpPr txBox="1"/>
          <p:nvPr>
            <p:ph type="body" sz="quarter" idx="22"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Подзаголовок слайда</a:t>
            </a:r>
          </a:p>
        </p:txBody>
      </p:sp>
      <p:sp>
        <p:nvSpPr>
          <p:cNvPr id="62" name="Заголовок слайда"/>
          <p:cNvSpPr txBox="1"/>
          <p:nvPr>
            <p:ph type="title" hasCustomPrompt="1"/>
          </p:nvPr>
        </p:nvSpPr>
        <p:spPr>
          <a:xfrm>
            <a:off x="1206500" y="635000"/>
            <a:ext cx="9779000" cy="1689100"/>
          </a:xfrm>
          <a:prstGeom prst="rect">
            <a:avLst/>
          </a:prstGeom>
        </p:spPr>
        <p:txBody>
          <a:bodyPr/>
          <a:lstStyle/>
          <a:p>
            <a:pPr/>
            <a:r>
              <a:t>Заголовок слайда</a:t>
            </a:r>
          </a:p>
        </p:txBody>
      </p:sp>
      <p:sp>
        <p:nvSpPr>
          <p:cNvPr id="63" name="Уровень текста 1…"/>
          <p:cNvSpPr txBox="1"/>
          <p:nvPr>
            <p:ph type="body" sz="half" idx="1" hasCustomPrompt="1"/>
          </p:nvPr>
        </p:nvSpPr>
        <p:spPr>
          <a:xfrm>
            <a:off x="1206500" y="4248504"/>
            <a:ext cx="9779000" cy="8256012"/>
          </a:xfrm>
          <a:prstGeom prst="rect">
            <a:avLst/>
          </a:prstGeom>
        </p:spPr>
        <p:txBody>
          <a:bodyPr/>
          <a:lstStyle/>
          <a:p>
            <a:pPr/>
            <a:r>
              <a:t>Текст пункта на слайде</a:t>
            </a:r>
          </a:p>
          <a:p>
            <a:pPr lvl="1"/>
            <a:r>
              <a:t/>
            </a:r>
          </a:p>
          <a:p>
            <a:pPr lvl="2"/>
            <a:r>
              <a:t/>
            </a:r>
          </a:p>
          <a:p>
            <a:pPr lvl="3"/>
            <a:r>
              <a:t/>
            </a:r>
          </a:p>
          <a:p>
            <a:pPr lvl="4"/>
            <a:r>
              <a:t/>
            </a:r>
          </a:p>
        </p:txBody>
      </p:sp>
      <p:sp>
        <p:nvSpPr>
          <p:cNvPr id="64"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Заголовок, пункты, видео — мелко">
    <p:spTree>
      <p:nvGrpSpPr>
        <p:cNvPr id="1" name=""/>
        <p:cNvGrpSpPr/>
        <p:nvPr/>
      </p:nvGrpSpPr>
      <p:grpSpPr>
        <a:xfrm>
          <a:off x="0" y="0"/>
          <a:ext cx="0" cy="0"/>
          <a:chOff x="0" y="0"/>
          <a:chExt cx="0" cy="0"/>
        </a:xfrm>
      </p:grpSpPr>
      <p:sp>
        <p:nvSpPr>
          <p:cNvPr id="71" name="Подзаголовок слайда"/>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Подзаголовок слайда</a:t>
            </a:r>
          </a:p>
        </p:txBody>
      </p:sp>
      <p:sp>
        <p:nvSpPr>
          <p:cNvPr id="72" name="Заголовок слайда"/>
          <p:cNvSpPr txBox="1"/>
          <p:nvPr>
            <p:ph type="title" hasCustomPrompt="1"/>
          </p:nvPr>
        </p:nvSpPr>
        <p:spPr>
          <a:prstGeom prst="rect">
            <a:avLst/>
          </a:prstGeom>
        </p:spPr>
        <p:txBody>
          <a:bodyPr/>
          <a:lstStyle/>
          <a:p>
            <a:pPr/>
            <a:r>
              <a:t>Заголовок слайда</a:t>
            </a:r>
          </a:p>
        </p:txBody>
      </p:sp>
      <p:sp>
        <p:nvSpPr>
          <p:cNvPr id="73" name="Уровень текста 1…"/>
          <p:cNvSpPr txBox="1"/>
          <p:nvPr>
            <p:ph type="body" sz="half" idx="1" hasCustomPrompt="1"/>
          </p:nvPr>
        </p:nvSpPr>
        <p:spPr>
          <a:xfrm>
            <a:off x="1206500" y="4248504"/>
            <a:ext cx="9779000" cy="8256012"/>
          </a:xfrm>
          <a:prstGeom prst="rect">
            <a:avLst/>
          </a:prstGeom>
        </p:spPr>
        <p:txBody>
          <a:bodyPr/>
          <a:lstStyle/>
          <a:p>
            <a:pPr/>
            <a:r>
              <a:t>Текст пункта на слайде</a:t>
            </a:r>
          </a:p>
          <a:p>
            <a:pPr lvl="1"/>
            <a:r>
              <a:t/>
            </a:r>
          </a:p>
          <a:p>
            <a:pPr lvl="2"/>
            <a:r>
              <a:t/>
            </a:r>
          </a:p>
          <a:p>
            <a:pPr lvl="3"/>
            <a:r>
              <a:t/>
            </a:r>
          </a:p>
          <a:p>
            <a:pPr lvl="4"/>
            <a:r>
              <a:t/>
            </a:r>
          </a:p>
        </p:txBody>
      </p:sp>
      <p:sp>
        <p:nvSpPr>
          <p:cNvPr id="74"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Заголовок, пункты, видео — крупно">
    <p:spTree>
      <p:nvGrpSpPr>
        <p:cNvPr id="1" name=""/>
        <p:cNvGrpSpPr/>
        <p:nvPr/>
      </p:nvGrpSpPr>
      <p:grpSpPr>
        <a:xfrm>
          <a:off x="0" y="0"/>
          <a:ext cx="0" cy="0"/>
          <a:chOff x="0" y="0"/>
          <a:chExt cx="0" cy="0"/>
        </a:xfrm>
      </p:grpSpPr>
      <p:sp>
        <p:nvSpPr>
          <p:cNvPr id="81" name="Подзаголовок слайда"/>
          <p:cNvSpPr txBox="1"/>
          <p:nvPr>
            <p:ph type="body" sz="quarter" idx="21"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Подзаголовок слайда</a:t>
            </a:r>
          </a:p>
        </p:txBody>
      </p:sp>
      <p:sp>
        <p:nvSpPr>
          <p:cNvPr id="82" name="Заголовок слайда"/>
          <p:cNvSpPr txBox="1"/>
          <p:nvPr>
            <p:ph type="title" hasCustomPrompt="1"/>
          </p:nvPr>
        </p:nvSpPr>
        <p:spPr>
          <a:xfrm>
            <a:off x="1206500" y="635000"/>
            <a:ext cx="9779000" cy="1689100"/>
          </a:xfrm>
          <a:prstGeom prst="rect">
            <a:avLst/>
          </a:prstGeom>
        </p:spPr>
        <p:txBody>
          <a:bodyPr/>
          <a:lstStyle/>
          <a:p>
            <a:pPr/>
            <a:r>
              <a:t>Заголовок слайда</a:t>
            </a:r>
          </a:p>
        </p:txBody>
      </p:sp>
      <p:sp>
        <p:nvSpPr>
          <p:cNvPr id="83" name="Уровень текста 1…"/>
          <p:cNvSpPr txBox="1"/>
          <p:nvPr>
            <p:ph type="body" sz="half" idx="1" hasCustomPrompt="1"/>
          </p:nvPr>
        </p:nvSpPr>
        <p:spPr>
          <a:xfrm>
            <a:off x="1206500" y="4248504"/>
            <a:ext cx="9779000" cy="8256012"/>
          </a:xfrm>
          <a:prstGeom prst="rect">
            <a:avLst/>
          </a:prstGeom>
        </p:spPr>
        <p:txBody>
          <a:bodyPr/>
          <a:lstStyle/>
          <a:p>
            <a:pPr/>
            <a:r>
              <a:t>Текст пункта на слайде</a:t>
            </a:r>
          </a:p>
          <a:p>
            <a:pPr lvl="1"/>
            <a:r>
              <a:t/>
            </a:r>
          </a:p>
          <a:p>
            <a:pPr lvl="2"/>
            <a:r>
              <a:t/>
            </a:r>
          </a:p>
          <a:p>
            <a:pPr lvl="3"/>
            <a:r>
              <a:t/>
            </a:r>
          </a:p>
          <a:p>
            <a:pPr lvl="4"/>
            <a:r>
              <a:t/>
            </a:r>
          </a:p>
        </p:txBody>
      </p:sp>
      <p:sp>
        <p:nvSpPr>
          <p:cNvPr id="84"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Раздел">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91" name="Заголовок раздела"/>
          <p:cNvSpPr txBox="1"/>
          <p:nvPr>
            <p:ph type="title" hasCustomPrompt="1"/>
          </p:nvPr>
        </p:nvSpPr>
        <p:spPr>
          <a:xfrm>
            <a:off x="1206496" y="3911600"/>
            <a:ext cx="21971004" cy="4648200"/>
          </a:xfrm>
          <a:prstGeom prst="rect">
            <a:avLst/>
          </a:prstGeom>
        </p:spPr>
        <p:txBody>
          <a:bodyPr anchor="ctr"/>
          <a:lstStyle>
            <a:lvl1pPr>
              <a:defRPr spc="-119" sz="12000"/>
            </a:lvl1pPr>
          </a:lstStyle>
          <a:p>
            <a:pPr/>
            <a:r>
              <a:t>Заголовок раздела</a:t>
            </a:r>
          </a:p>
        </p:txBody>
      </p:sp>
      <p:sp>
        <p:nvSpPr>
          <p:cNvPr id="92"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Только заголовок">
    <p:spTree>
      <p:nvGrpSpPr>
        <p:cNvPr id="1" name=""/>
        <p:cNvGrpSpPr/>
        <p:nvPr/>
      </p:nvGrpSpPr>
      <p:grpSpPr>
        <a:xfrm>
          <a:off x="0" y="0"/>
          <a:ext cx="0" cy="0"/>
          <a:chOff x="0" y="0"/>
          <a:chExt cx="0" cy="0"/>
        </a:xfrm>
      </p:grpSpPr>
      <p:sp>
        <p:nvSpPr>
          <p:cNvPr id="99" name="Подзаголовок слайда"/>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Подзаголовок слайда</a:t>
            </a:r>
          </a:p>
        </p:txBody>
      </p:sp>
      <p:sp>
        <p:nvSpPr>
          <p:cNvPr id="100" name="Заголовок слайда"/>
          <p:cNvSpPr txBox="1"/>
          <p:nvPr>
            <p:ph type="title" hasCustomPrompt="1"/>
          </p:nvPr>
        </p:nvSpPr>
        <p:spPr>
          <a:prstGeom prst="rect">
            <a:avLst/>
          </a:prstGeom>
        </p:spPr>
        <p:txBody>
          <a:bodyPr/>
          <a:lstStyle/>
          <a:p>
            <a:pPr/>
            <a:r>
              <a:t>Заголовок слайда</a:t>
            </a:r>
          </a:p>
        </p:txBody>
      </p:sp>
      <p:sp>
        <p:nvSpPr>
          <p:cNvPr id="101"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Повестка дня">
    <p:spTree>
      <p:nvGrpSpPr>
        <p:cNvPr id="1" name=""/>
        <p:cNvGrpSpPr/>
        <p:nvPr/>
      </p:nvGrpSpPr>
      <p:grpSpPr>
        <a:xfrm>
          <a:off x="0" y="0"/>
          <a:ext cx="0" cy="0"/>
          <a:chOff x="0" y="0"/>
          <a:chExt cx="0" cy="0"/>
        </a:xfrm>
      </p:grpSpPr>
      <p:sp>
        <p:nvSpPr>
          <p:cNvPr id="108" name="Подзаголовок повестки дня"/>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Подзаголовок повестки дня</a:t>
            </a:r>
          </a:p>
        </p:txBody>
      </p:sp>
      <p:sp>
        <p:nvSpPr>
          <p:cNvPr id="109" name="Уровень текста 1…"/>
          <p:cNvSpPr txBox="1"/>
          <p:nvPr>
            <p:ph type="body" idx="1" hasCustomPrompt="1"/>
          </p:nvPr>
        </p:nvSpPr>
        <p:spPr>
          <a:prstGeom prst="rect">
            <a:avLst/>
          </a:prstGeom>
        </p:spPr>
        <p:txBody>
          <a:bodyPr/>
          <a:lstStyle>
            <a:lvl1pPr marL="0" indent="0">
              <a:spcBef>
                <a:spcPts val="6000"/>
              </a:spcBef>
              <a:buSzTx/>
              <a:buNone/>
              <a:defRPr sz="5000"/>
            </a:lvl1pPr>
            <a:lvl2pPr marL="0" indent="457200">
              <a:spcBef>
                <a:spcPts val="6000"/>
              </a:spcBef>
              <a:buSzTx/>
              <a:buNone/>
              <a:defRPr sz="5000"/>
            </a:lvl2pPr>
            <a:lvl3pPr marL="0" indent="914400">
              <a:spcBef>
                <a:spcPts val="6000"/>
              </a:spcBef>
              <a:buSzTx/>
              <a:buNone/>
              <a:defRPr sz="5000"/>
            </a:lvl3pPr>
            <a:lvl4pPr marL="0" indent="1371600">
              <a:spcBef>
                <a:spcPts val="6000"/>
              </a:spcBef>
              <a:buSzTx/>
              <a:buNone/>
              <a:defRPr sz="5000"/>
            </a:lvl4pPr>
            <a:lvl5pPr marL="0" indent="1828800">
              <a:spcBef>
                <a:spcPts val="6000"/>
              </a:spcBef>
              <a:buSzTx/>
              <a:buNone/>
              <a:defRPr sz="5000"/>
            </a:lvl5pPr>
          </a:lstStyle>
          <a:p>
            <a:pPr/>
            <a:r>
              <a:t>Темы повестки дня</a:t>
            </a:r>
          </a:p>
          <a:p>
            <a:pPr lvl="1"/>
            <a:r>
              <a:t/>
            </a:r>
          </a:p>
          <a:p>
            <a:pPr lvl="2"/>
            <a:r>
              <a:t/>
            </a:r>
          </a:p>
          <a:p>
            <a:pPr lvl="3"/>
            <a:r>
              <a:t/>
            </a:r>
          </a:p>
          <a:p>
            <a:pPr lvl="4"/>
            <a:r>
              <a:t/>
            </a:r>
          </a:p>
        </p:txBody>
      </p:sp>
      <p:sp>
        <p:nvSpPr>
          <p:cNvPr id="110" name="Заголовок повестки дня"/>
          <p:cNvSpPr txBox="1"/>
          <p:nvPr>
            <p:ph type="title" hasCustomPrompt="1"/>
          </p:nvPr>
        </p:nvSpPr>
        <p:spPr>
          <a:prstGeom prst="rect">
            <a:avLst/>
          </a:prstGeom>
        </p:spPr>
        <p:txBody>
          <a:bodyPr/>
          <a:lstStyle/>
          <a:p>
            <a:pPr/>
            <a:r>
              <a:t>Заголовок повестки дня</a:t>
            </a:r>
          </a:p>
        </p:txBody>
      </p:sp>
      <p:sp>
        <p:nvSpPr>
          <p:cNvPr id="111"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Информационное сообщение">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8" name="Уровень текста 1…"/>
          <p:cNvSpPr txBox="1"/>
          <p:nvPr>
            <p:ph type="body" sz="half" idx="1" hasCustomPrompt="1"/>
          </p:nvPr>
        </p:nvSpPr>
        <p:spPr>
          <a:xfrm>
            <a:off x="1206500" y="4191000"/>
            <a:ext cx="21971000" cy="4089400"/>
          </a:xfrm>
          <a:prstGeom prst="rect">
            <a:avLst/>
          </a:prstGeom>
        </p:spPr>
        <p:txBody>
          <a:bodyPr anchor="ctr"/>
          <a:lstStyle>
            <a:lvl1pPr marL="0" indent="0" algn="ctr" defTabSz="2438400">
              <a:lnSpc>
                <a:spcPct val="90000"/>
              </a:lnSpc>
              <a:spcBef>
                <a:spcPts val="0"/>
              </a:spcBef>
              <a:buSzTx/>
              <a:buNone/>
              <a:defRPr spc="-119" sz="12000">
                <a:latin typeface="+mn-lt"/>
                <a:ea typeface="+mn-ea"/>
                <a:cs typeface="+mn-cs"/>
                <a:sym typeface="Produkt Extralight"/>
              </a:defRPr>
            </a:lvl1pPr>
            <a:lvl2pPr marL="0" indent="457200" algn="ctr" defTabSz="2438400">
              <a:lnSpc>
                <a:spcPct val="90000"/>
              </a:lnSpc>
              <a:spcBef>
                <a:spcPts val="0"/>
              </a:spcBef>
              <a:buSzTx/>
              <a:buNone/>
              <a:defRPr spc="-119" sz="12000">
                <a:latin typeface="+mn-lt"/>
                <a:ea typeface="+mn-ea"/>
                <a:cs typeface="+mn-cs"/>
                <a:sym typeface="Produkt Extralight"/>
              </a:defRPr>
            </a:lvl2pPr>
            <a:lvl3pPr marL="0" indent="914400" algn="ctr" defTabSz="2438400">
              <a:lnSpc>
                <a:spcPct val="90000"/>
              </a:lnSpc>
              <a:spcBef>
                <a:spcPts val="0"/>
              </a:spcBef>
              <a:buSzTx/>
              <a:buNone/>
              <a:defRPr spc="-119" sz="12000">
                <a:latin typeface="+mn-lt"/>
                <a:ea typeface="+mn-ea"/>
                <a:cs typeface="+mn-cs"/>
                <a:sym typeface="Produkt Extralight"/>
              </a:defRPr>
            </a:lvl3pPr>
            <a:lvl4pPr marL="0" indent="1371600" algn="ctr" defTabSz="2438400">
              <a:lnSpc>
                <a:spcPct val="90000"/>
              </a:lnSpc>
              <a:spcBef>
                <a:spcPts val="0"/>
              </a:spcBef>
              <a:buSzTx/>
              <a:buNone/>
              <a:defRPr spc="-119" sz="12000">
                <a:latin typeface="+mn-lt"/>
                <a:ea typeface="+mn-ea"/>
                <a:cs typeface="+mn-cs"/>
                <a:sym typeface="Produkt Extralight"/>
              </a:defRPr>
            </a:lvl4pPr>
            <a:lvl5pPr marL="0" indent="1828800" algn="ctr" defTabSz="2438400">
              <a:lnSpc>
                <a:spcPct val="90000"/>
              </a:lnSpc>
              <a:spcBef>
                <a:spcPts val="0"/>
              </a:spcBef>
              <a:buSzTx/>
              <a:buNone/>
              <a:defRPr spc="-119" sz="12000">
                <a:latin typeface="+mn-lt"/>
                <a:ea typeface="+mn-ea"/>
                <a:cs typeface="+mn-cs"/>
                <a:sym typeface="Produkt Extralight"/>
              </a:defRPr>
            </a:lvl5pPr>
          </a:lstStyle>
          <a:p>
            <a:pPr/>
            <a:r>
              <a:t>Информационное сообщение</a:t>
            </a:r>
          </a:p>
          <a:p>
            <a:pPr lvl="1"/>
            <a:r>
              <a:t/>
            </a:r>
          </a:p>
          <a:p>
            <a:pPr lvl="2"/>
            <a:r>
              <a:t/>
            </a:r>
          </a:p>
          <a:p>
            <a:pPr lvl="3"/>
            <a:r>
              <a:t/>
            </a:r>
          </a:p>
          <a:p>
            <a:pPr lvl="4"/>
            <a:r>
              <a:t/>
            </a:r>
          </a:p>
        </p:txBody>
      </p:sp>
      <p:sp>
        <p:nvSpPr>
          <p:cNvPr id="119"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Важный факт">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26" name="Уровень текста 1…"/>
          <p:cNvSpPr txBox="1"/>
          <p:nvPr>
            <p:ph type="body" idx="1" hasCustomPrompt="1"/>
          </p:nvPr>
        </p:nvSpPr>
        <p:spPr>
          <a:xfrm>
            <a:off x="1206500" y="1206500"/>
            <a:ext cx="21971000" cy="7353300"/>
          </a:xfrm>
          <a:prstGeom prst="rect">
            <a:avLst/>
          </a:prstGeom>
        </p:spPr>
        <p:txBody>
          <a:bodyPr anchor="b"/>
          <a:lstStyle>
            <a:lvl1pPr marL="0" indent="0" algn="ctr" defTabSz="2438400">
              <a:lnSpc>
                <a:spcPct val="90000"/>
              </a:lnSpc>
              <a:spcBef>
                <a:spcPts val="0"/>
              </a:spcBef>
              <a:buSzTx/>
              <a:buNone/>
              <a:defRPr spc="-1750" sz="35000">
                <a:latin typeface="+mn-lt"/>
                <a:ea typeface="+mn-ea"/>
                <a:cs typeface="+mn-cs"/>
                <a:sym typeface="Produkt Extralight"/>
              </a:defRPr>
            </a:lvl1pPr>
            <a:lvl2pPr marL="0" indent="457200" algn="ctr" defTabSz="2438400">
              <a:lnSpc>
                <a:spcPct val="90000"/>
              </a:lnSpc>
              <a:spcBef>
                <a:spcPts val="0"/>
              </a:spcBef>
              <a:buSzTx/>
              <a:buNone/>
              <a:defRPr spc="-1750" sz="35000">
                <a:latin typeface="+mn-lt"/>
                <a:ea typeface="+mn-ea"/>
                <a:cs typeface="+mn-cs"/>
                <a:sym typeface="Produkt Extralight"/>
              </a:defRPr>
            </a:lvl2pPr>
            <a:lvl3pPr marL="0" indent="914400" algn="ctr" defTabSz="2438400">
              <a:lnSpc>
                <a:spcPct val="90000"/>
              </a:lnSpc>
              <a:spcBef>
                <a:spcPts val="0"/>
              </a:spcBef>
              <a:buSzTx/>
              <a:buNone/>
              <a:defRPr spc="-1750" sz="35000">
                <a:latin typeface="+mn-lt"/>
                <a:ea typeface="+mn-ea"/>
                <a:cs typeface="+mn-cs"/>
                <a:sym typeface="Produkt Extralight"/>
              </a:defRPr>
            </a:lvl3pPr>
            <a:lvl4pPr marL="0" indent="1371600" algn="ctr" defTabSz="2438400">
              <a:lnSpc>
                <a:spcPct val="90000"/>
              </a:lnSpc>
              <a:spcBef>
                <a:spcPts val="0"/>
              </a:spcBef>
              <a:buSzTx/>
              <a:buNone/>
              <a:defRPr spc="-1750" sz="35000">
                <a:latin typeface="+mn-lt"/>
                <a:ea typeface="+mn-ea"/>
                <a:cs typeface="+mn-cs"/>
                <a:sym typeface="Produkt Extralight"/>
              </a:defRPr>
            </a:lvl4pPr>
            <a:lvl5pPr marL="0" indent="1828800" algn="ctr" defTabSz="2438400">
              <a:lnSpc>
                <a:spcPct val="90000"/>
              </a:lnSpc>
              <a:spcBef>
                <a:spcPts val="0"/>
              </a:spcBef>
              <a:buSzTx/>
              <a:buNone/>
              <a:defRPr spc="-1750" sz="35000">
                <a:latin typeface="+mn-lt"/>
                <a:ea typeface="+mn-ea"/>
                <a:cs typeface="+mn-cs"/>
                <a:sym typeface="Produkt Extralight"/>
              </a:defRPr>
            </a:lvl5pPr>
          </a:lstStyle>
          <a:p>
            <a:pPr/>
            <a:r>
              <a:t>100 %</a:t>
            </a:r>
          </a:p>
          <a:p>
            <a:pPr lvl="1"/>
            <a:r>
              <a:t/>
            </a:r>
          </a:p>
          <a:p>
            <a:pPr lvl="2"/>
            <a:r>
              <a:t/>
            </a:r>
          </a:p>
          <a:p>
            <a:pPr lvl="3"/>
            <a:r>
              <a:t/>
            </a:r>
          </a:p>
          <a:p>
            <a:pPr lvl="4"/>
            <a:r>
              <a:t/>
            </a:r>
          </a:p>
        </p:txBody>
      </p:sp>
      <p:sp>
        <p:nvSpPr>
          <p:cNvPr id="127" name="Информация о факте"/>
          <p:cNvSpPr txBox="1"/>
          <p:nvPr>
            <p:ph type="body" sz="quarter" idx="21" hasCustomPrompt="1"/>
          </p:nvPr>
        </p:nvSpPr>
        <p:spPr>
          <a:xfrm>
            <a:off x="1206500" y="8128000"/>
            <a:ext cx="21971000" cy="1079500"/>
          </a:xfrm>
          <a:prstGeom prst="rect">
            <a:avLst/>
          </a:prstGeom>
        </p:spPr>
        <p:txBody>
          <a:bodyPr lIns="45719" tIns="45719" rIns="45719" bIns="45719"/>
          <a:lstStyle>
            <a:lvl1pPr marL="0" indent="0" algn="ctr" defTabSz="825500">
              <a:lnSpc>
                <a:spcPct val="90000"/>
              </a:lnSpc>
              <a:spcBef>
                <a:spcPts val="0"/>
              </a:spcBef>
              <a:buSzTx/>
              <a:buNone/>
              <a:defRPr spc="-55" sz="5500">
                <a:latin typeface="+mn-lt"/>
                <a:ea typeface="+mn-ea"/>
                <a:cs typeface="+mn-cs"/>
                <a:sym typeface="Produkt Extralight"/>
              </a:defRPr>
            </a:lvl1pPr>
          </a:lstStyle>
          <a:p>
            <a:pPr/>
            <a:r>
              <a:t>Информация о факте</a:t>
            </a:r>
          </a:p>
        </p:txBody>
      </p:sp>
      <p:sp>
        <p:nvSpPr>
          <p:cNvPr id="128"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Цитата">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35" name="Авторство"/>
          <p:cNvSpPr txBox="1"/>
          <p:nvPr>
            <p:ph type="body" sz="quarter" idx="21" hasCustomPrompt="1"/>
          </p:nvPr>
        </p:nvSpPr>
        <p:spPr>
          <a:xfrm>
            <a:off x="5461000" y="9563100"/>
            <a:ext cx="13728700" cy="698500"/>
          </a:xfrm>
          <a:prstGeom prst="rect">
            <a:avLst/>
          </a:prstGeom>
        </p:spPr>
        <p:txBody>
          <a:bodyPr lIns="45719" tIns="45719" rIns="45719" bIns="45719"/>
          <a:lstStyle>
            <a:lvl1pPr marL="0" indent="0" defTabSz="825500">
              <a:spcBef>
                <a:spcPts val="0"/>
              </a:spcBef>
              <a:buSzTx/>
              <a:buNone/>
              <a:defRPr sz="3600">
                <a:latin typeface="Produkt Light"/>
                <a:ea typeface="Produkt Light"/>
                <a:cs typeface="Produkt Light"/>
                <a:sym typeface="Produkt Light"/>
              </a:defRPr>
            </a:lvl1pPr>
          </a:lstStyle>
          <a:p>
            <a:pPr/>
            <a:r>
              <a:t>Авторство</a:t>
            </a:r>
          </a:p>
        </p:txBody>
      </p:sp>
      <p:sp>
        <p:nvSpPr>
          <p:cNvPr id="136" name="Уровень текста 1…"/>
          <p:cNvSpPr txBox="1"/>
          <p:nvPr>
            <p:ph type="body" sz="quarter" idx="1" hasCustomPrompt="1"/>
          </p:nvPr>
        </p:nvSpPr>
        <p:spPr>
          <a:xfrm>
            <a:off x="5194300" y="4165600"/>
            <a:ext cx="13995400" cy="4432300"/>
          </a:xfrm>
          <a:prstGeom prst="rect">
            <a:avLst/>
          </a:prstGeom>
        </p:spPr>
        <p:txBody>
          <a:bodyPr anchor="b"/>
          <a:lstStyle>
            <a:lvl1pPr marL="254000" indent="-254000" defTabSz="2438400">
              <a:lnSpc>
                <a:spcPct val="90000"/>
              </a:lnSpc>
              <a:spcBef>
                <a:spcPts val="0"/>
              </a:spcBef>
              <a:buSzTx/>
              <a:buNone/>
              <a:defRPr spc="-93" sz="9300">
                <a:latin typeface="+mn-lt"/>
                <a:ea typeface="+mn-ea"/>
                <a:cs typeface="+mn-cs"/>
                <a:sym typeface="Produkt Extralight"/>
              </a:defRPr>
            </a:lvl1pPr>
            <a:lvl2pPr marL="254000" indent="203200" defTabSz="2438400">
              <a:lnSpc>
                <a:spcPct val="90000"/>
              </a:lnSpc>
              <a:spcBef>
                <a:spcPts val="0"/>
              </a:spcBef>
              <a:buSzTx/>
              <a:buNone/>
              <a:defRPr spc="-93" sz="9300">
                <a:latin typeface="+mn-lt"/>
                <a:ea typeface="+mn-ea"/>
                <a:cs typeface="+mn-cs"/>
                <a:sym typeface="Produkt Extralight"/>
              </a:defRPr>
            </a:lvl2pPr>
            <a:lvl3pPr marL="254000" indent="660400" defTabSz="2438400">
              <a:lnSpc>
                <a:spcPct val="90000"/>
              </a:lnSpc>
              <a:spcBef>
                <a:spcPts val="0"/>
              </a:spcBef>
              <a:buSzTx/>
              <a:buNone/>
              <a:defRPr spc="-93" sz="9300">
                <a:latin typeface="+mn-lt"/>
                <a:ea typeface="+mn-ea"/>
                <a:cs typeface="+mn-cs"/>
                <a:sym typeface="Produkt Extralight"/>
              </a:defRPr>
            </a:lvl3pPr>
            <a:lvl4pPr marL="254000" indent="1117600" defTabSz="2438400">
              <a:lnSpc>
                <a:spcPct val="90000"/>
              </a:lnSpc>
              <a:spcBef>
                <a:spcPts val="0"/>
              </a:spcBef>
              <a:buSzTx/>
              <a:buNone/>
              <a:defRPr spc="-93" sz="9300">
                <a:latin typeface="+mn-lt"/>
                <a:ea typeface="+mn-ea"/>
                <a:cs typeface="+mn-cs"/>
                <a:sym typeface="Produkt Extralight"/>
              </a:defRPr>
            </a:lvl4pPr>
            <a:lvl5pPr marL="254000" indent="1574800" defTabSz="2438400">
              <a:lnSpc>
                <a:spcPct val="90000"/>
              </a:lnSpc>
              <a:spcBef>
                <a:spcPts val="0"/>
              </a:spcBef>
              <a:buSzTx/>
              <a:buNone/>
              <a:defRPr spc="-93" sz="9300">
                <a:latin typeface="+mn-lt"/>
                <a:ea typeface="+mn-ea"/>
                <a:cs typeface="+mn-cs"/>
                <a:sym typeface="Produkt Extralight"/>
              </a:defRPr>
            </a:lvl5pPr>
          </a:lstStyle>
          <a:p>
            <a:pPr/>
            <a:r>
              <a:t>«Важная цитата»</a:t>
            </a:r>
          </a:p>
          <a:p>
            <a:pPr lvl="1"/>
            <a:r>
              <a:t/>
            </a:r>
          </a:p>
          <a:p>
            <a:pPr lvl="2"/>
            <a:r>
              <a:t/>
            </a:r>
          </a:p>
          <a:p>
            <a:pPr lvl="3"/>
            <a:r>
              <a:t/>
            </a:r>
          </a:p>
          <a:p>
            <a:pPr lvl="4"/>
            <a:r>
              <a:t/>
            </a:r>
          </a:p>
        </p:txBody>
      </p:sp>
      <p:sp>
        <p:nvSpPr>
          <p:cNvPr id="137"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Фото (3 шт.)">
    <p:spTree>
      <p:nvGrpSpPr>
        <p:cNvPr id="1" name=""/>
        <p:cNvGrpSpPr/>
        <p:nvPr/>
      </p:nvGrpSpPr>
      <p:grpSpPr>
        <a:xfrm>
          <a:off x="0" y="0"/>
          <a:ext cx="0" cy="0"/>
          <a:chOff x="0" y="0"/>
          <a:chExt cx="0" cy="0"/>
        </a:xfrm>
      </p:grpSpPr>
      <p:sp>
        <p:nvSpPr>
          <p:cNvPr id="144" name="Открытая галерея каменной постройки под розово-пурпурным небом"/>
          <p:cNvSpPr/>
          <p:nvPr>
            <p:ph type="pic" sz="quarter" idx="21"/>
          </p:nvPr>
        </p:nvSpPr>
        <p:spPr>
          <a:xfrm>
            <a:off x="1257300" y="3213100"/>
            <a:ext cx="7289800" cy="7289800"/>
          </a:xfrm>
          <a:prstGeom prst="rect">
            <a:avLst/>
          </a:prstGeom>
        </p:spPr>
        <p:txBody>
          <a:bodyPr lIns="91439" tIns="45719" rIns="91439" bIns="45719">
            <a:noAutofit/>
          </a:bodyPr>
          <a:lstStyle/>
          <a:p>
            <a:pPr/>
          </a:p>
        </p:txBody>
      </p:sp>
      <p:sp>
        <p:nvSpPr>
          <p:cNvPr id="145" name="Чёрно-белое фото изогнутой крыши крупным планом"/>
          <p:cNvSpPr/>
          <p:nvPr>
            <p:ph type="pic" sz="half" idx="22"/>
          </p:nvPr>
        </p:nvSpPr>
        <p:spPr>
          <a:xfrm>
            <a:off x="6577500" y="3632200"/>
            <a:ext cx="11228999" cy="6451600"/>
          </a:xfrm>
          <a:prstGeom prst="rect">
            <a:avLst/>
          </a:prstGeom>
        </p:spPr>
        <p:txBody>
          <a:bodyPr lIns="91439" tIns="45719" rIns="91439" bIns="45719">
            <a:noAutofit/>
          </a:bodyPr>
          <a:lstStyle/>
          <a:p>
            <a:pPr/>
          </a:p>
        </p:txBody>
      </p:sp>
      <p:sp>
        <p:nvSpPr>
          <p:cNvPr id="146" name="Вид снизу на металлическую спиральную лестницу"/>
          <p:cNvSpPr/>
          <p:nvPr>
            <p:ph type="pic" sz="quarter" idx="23"/>
          </p:nvPr>
        </p:nvSpPr>
        <p:spPr>
          <a:xfrm>
            <a:off x="14643100" y="3632200"/>
            <a:ext cx="9677400" cy="6451600"/>
          </a:xfrm>
          <a:prstGeom prst="rect">
            <a:avLst/>
          </a:prstGeom>
        </p:spPr>
        <p:txBody>
          <a:bodyPr lIns="91439" tIns="45719" rIns="91439" bIns="45719">
            <a:noAutofit/>
          </a:bodyPr>
          <a:lstStyle/>
          <a:p>
            <a:pPr/>
          </a:p>
        </p:txBody>
      </p:sp>
      <p:sp>
        <p:nvSpPr>
          <p:cNvPr id="147"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Фото">
    <p:bg>
      <p:bgPr>
        <a:solidFill>
          <a:srgbClr val="FFFFFF"/>
        </a:solidFill>
      </p:bgPr>
    </p:bg>
    <p:spTree>
      <p:nvGrpSpPr>
        <p:cNvPr id="1" name=""/>
        <p:cNvGrpSpPr/>
        <p:nvPr/>
      </p:nvGrpSpPr>
      <p:grpSpPr>
        <a:xfrm>
          <a:off x="0" y="0"/>
          <a:ext cx="0" cy="0"/>
          <a:chOff x="0" y="0"/>
          <a:chExt cx="0" cy="0"/>
        </a:xfrm>
      </p:grpSpPr>
      <p:sp>
        <p:nvSpPr>
          <p:cNvPr id="154" name="Белый коридор футуристичного вида с тенями"/>
          <p:cNvSpPr/>
          <p:nvPr>
            <p:ph type="pic" idx="21"/>
          </p:nvPr>
        </p:nvSpPr>
        <p:spPr>
          <a:xfrm>
            <a:off x="-38100" y="-520700"/>
            <a:ext cx="24447500" cy="14763310"/>
          </a:xfrm>
          <a:prstGeom prst="rect">
            <a:avLst/>
          </a:prstGeom>
        </p:spPr>
        <p:txBody>
          <a:bodyPr lIns="91439" tIns="45719" rIns="91439" bIns="45719">
            <a:noAutofit/>
          </a:bodyPr>
          <a:lstStyle/>
          <a:p>
            <a:pPr/>
          </a:p>
        </p:txBody>
      </p:sp>
      <p:sp>
        <p:nvSpPr>
          <p:cNvPr id="155"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Пустой">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62"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Заголовок слайда"/>
          <p:cNvSpPr txBox="1"/>
          <p:nvPr>
            <p:ph type="title" hasCustomPrompt="1"/>
          </p:nvPr>
        </p:nvSpPr>
        <p:spPr>
          <a:xfrm>
            <a:off x="1206500" y="635000"/>
            <a:ext cx="21971000" cy="1689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Заголовок слайда</a:t>
            </a:r>
          </a:p>
        </p:txBody>
      </p:sp>
      <p:sp>
        <p:nvSpPr>
          <p:cNvPr id="3" name="Уровень текста 1…"/>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Текст пункта на слайде</a:t>
            </a:r>
          </a:p>
          <a:p>
            <a:pPr lvl="1"/>
            <a:r>
              <a:t/>
            </a:r>
          </a:p>
          <a:p>
            <a:pPr lvl="2"/>
            <a:r>
              <a:t/>
            </a:r>
          </a:p>
          <a:p>
            <a:pPr lvl="3"/>
            <a:r>
              <a:t/>
            </a:r>
          </a:p>
          <a:p>
            <a:pPr lvl="4"/>
            <a:r>
              <a:t/>
            </a:r>
          </a:p>
        </p:txBody>
      </p:sp>
      <p:sp>
        <p:nvSpPr>
          <p:cNvPr id="4" name="Номер слайда"/>
          <p:cNvSpPr txBox="1"/>
          <p:nvPr>
            <p:ph type="sldNum" sz="quarter" idx="2"/>
          </p:nvPr>
        </p:nvSpPr>
        <p:spPr>
          <a:xfrm>
            <a:off x="23558499" y="12458699"/>
            <a:ext cx="388621" cy="429261"/>
          </a:xfrm>
          <a:prstGeom prst="rect">
            <a:avLst/>
          </a:prstGeom>
          <a:ln w="12700">
            <a:miter lim="400000"/>
          </a:ln>
        </p:spPr>
        <p:txBody>
          <a:bodyPr wrap="none" lIns="50800" tIns="50800" rIns="50800" bIns="50800" anchor="b">
            <a:spAutoFit/>
          </a:bodyPr>
          <a:lstStyle>
            <a:lvl1pPr algn="r" defTabSz="584200">
              <a:spcBef>
                <a:spcPts val="0"/>
              </a:spcBef>
              <a:defRPr sz="2000">
                <a:latin typeface="Graphik"/>
                <a:ea typeface="Graphik"/>
                <a:cs typeface="Graphik"/>
                <a:sym typeface="Graphik"/>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transition xmlns:p14="http://schemas.microsoft.com/office/powerpoint/2010/main" spd="med" advClick="1"/>
  <p:txStyles>
    <p:titleStyle>
      <a:lvl1pPr marL="0" marR="0" indent="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1pPr>
      <a:lvl2pPr marL="0" marR="0" indent="457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2pPr>
      <a:lvl3pPr marL="0" marR="0" indent="914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3pPr>
      <a:lvl4pPr marL="0" marR="0" indent="1371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4pPr>
      <a:lvl5pPr marL="0" marR="0" indent="18288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5pPr>
      <a:lvl6pPr marL="0" marR="0" indent="22860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6pPr>
      <a:lvl7pPr marL="0" marR="0" indent="2743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7pPr>
      <a:lvl8pPr marL="0" marR="0" indent="3200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8pPr>
      <a:lvl9pPr marL="0" marR="0" indent="3657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9pPr>
    </p:titleStyle>
    <p:bodyStyle>
      <a:lvl1pPr marL="457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1pPr>
      <a:lvl2pPr marL="914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2pPr>
      <a:lvl3pPr marL="1371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3pPr>
      <a:lvl4pPr marL="1828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4pPr>
      <a:lvl5pPr marL="22860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5pPr>
      <a:lvl6pPr marL="2743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6pPr>
      <a:lvl7pPr marL="3200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7pPr>
      <a:lvl8pPr marL="3657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8pPr>
      <a:lvl9pPr marL="4114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9pPr>
    </p:bodyStyle>
    <p:otherStyle>
      <a:lvl1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1pPr>
      <a:lvl2pPr marL="0" marR="0" indent="457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2pPr>
      <a:lvl3pPr marL="0" marR="0" indent="914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3pPr>
      <a:lvl4pPr marL="0" marR="0" indent="1371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4pPr>
      <a:lvl5pPr marL="0" marR="0" indent="18288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5pPr>
      <a:lvl6pPr marL="0" marR="0" indent="22860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6pPr>
      <a:lvl7pPr marL="0" marR="0" indent="2743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7pPr>
      <a:lvl8pPr marL="0" marR="0" indent="3200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8pPr>
      <a:lvl9pPr marL="0" marR="0" indent="3657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radioskot.com/publ/teoria/deshifratory-i-shifratory"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1.tif"/></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tif"/></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habr.com/ru/companies/ruvds/articles/759104/" TargetMode="External"/><Relationship Id="rId4" Type="http://schemas.openxmlformats.org/officeDocument/2006/relationships/image" Target="../media/image3.tif"/></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tif"/></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tif"/></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4.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gif"/></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radioskot.com/publ/teoria/deshifratory-i-shifratory" TargetMode="External"/></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5.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6.tif"/></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https://radioskot.com/publ/teoria/deshifratory-i-shifratory"/>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a:defRPr u="sng">
                <a:hlinkClick r:id="rId2" invalidUrl="" action="" tgtFrame="" tooltip="" history="1" highlightClick="0" endSnd="0"/>
              </a:defRPr>
            </a:lvl1pPr>
          </a:lstStyle>
          <a:p>
            <a:pPr>
              <a:defRPr u="none"/>
            </a:pPr>
            <a:r>
              <a:rPr u="sng">
                <a:hlinkClick r:id="rId2" invalidUrl="" action="" tgtFrame="" tooltip="" history="1" highlightClick="0" endSnd="0"/>
              </a:rPr>
              <a:t>https://radioskot.com/publ/teoria/deshifratory-i-shifratory</a:t>
            </a:r>
          </a:p>
        </p:txBody>
      </p:sp>
      <p:sp>
        <p:nvSpPr>
          <p:cNvPr id="172" name="Подзаголовок презентации"/>
          <p:cNvSpPr txBox="1"/>
          <p:nvPr>
            <p:ph type="subTitle" sz="quarter" idx="1"/>
          </p:nvPr>
        </p:nvSpPr>
        <p:spPr>
          <a:prstGeom prst="rect">
            <a:avLst/>
          </a:prstGeom>
        </p:spPr>
        <p:txBody>
          <a:bodyPr/>
          <a:lstStyle/>
          <a:p>
            <a:pPr/>
          </a:p>
        </p:txBody>
      </p:sp>
      <p:sp>
        <p:nvSpPr>
          <p:cNvPr id="173" name="Дешифратор, шифратор, компоратор"/>
          <p:cNvSpPr txBox="1"/>
          <p:nvPr>
            <p:ph type="ctrTitle"/>
          </p:nvPr>
        </p:nvSpPr>
        <p:spPr>
          <a:prstGeom prst="rect">
            <a:avLst/>
          </a:prstGeom>
        </p:spPr>
        <p:txBody>
          <a:bodyPr/>
          <a:lstStyle/>
          <a:p>
            <a:pPr/>
            <a:r>
              <a:t>Дешифратор, шифратор, компоратор</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Подзаголовок слайда"/>
          <p:cNvSpPr txBox="1"/>
          <p:nvPr>
            <p:ph type="body" idx="21"/>
          </p:nvPr>
        </p:nvSpPr>
        <p:spPr>
          <a:prstGeom prst="rect">
            <a:avLst/>
          </a:prstGeom>
        </p:spPr>
        <p:txBody>
          <a:bodyPr/>
          <a:lstStyle/>
          <a:p>
            <a:pPr/>
          </a:p>
        </p:txBody>
      </p:sp>
      <p:sp>
        <p:nvSpPr>
          <p:cNvPr id="176" name="Что такое дешифратор"/>
          <p:cNvSpPr txBox="1"/>
          <p:nvPr>
            <p:ph type="title"/>
          </p:nvPr>
        </p:nvSpPr>
        <p:spPr>
          <a:prstGeom prst="rect">
            <a:avLst/>
          </a:prstGeom>
        </p:spPr>
        <p:txBody>
          <a:bodyPr/>
          <a:lstStyle>
            <a:lvl1pPr defTabSz="2316479">
              <a:defRPr spc="-95" sz="9500"/>
            </a:lvl1pPr>
          </a:lstStyle>
          <a:p>
            <a:pPr/>
            <a:r>
              <a:t>Что такое дешифратор</a:t>
            </a:r>
          </a:p>
        </p:txBody>
      </p:sp>
      <p:sp>
        <p:nvSpPr>
          <p:cNvPr id="177" name="Это комбинационное логическое устройство, которое преобразует бинарный код на входе в сигнал активации одного из множества выходов. При подаче определённой комбинации двоичных значений на входах дешифратора активируется строго один выход, соответствующий"/>
          <p:cNvSpPr txBox="1"/>
          <p:nvPr>
            <p:ph type="body" idx="1"/>
          </p:nvPr>
        </p:nvSpPr>
        <p:spPr>
          <a:prstGeom prst="rect">
            <a:avLst/>
          </a:prstGeom>
        </p:spPr>
        <p:txBody>
          <a:bodyPr/>
          <a:lstStyle>
            <a:lvl1pPr marL="0" indent="0" algn="just">
              <a:spcBef>
                <a:spcPts val="6000"/>
              </a:spcBef>
              <a:buSzTx/>
              <a:buNone/>
              <a:defRPr sz="5000"/>
            </a:lvl1pPr>
          </a:lstStyle>
          <a:p>
            <a:pPr/>
            <a:r>
              <a:t>Это комбинационное логическое устройство, которое преобразует бинарный код на входе в сигнал активации одного из множества выходов. При подаче определённой комбинации двоичных значений на входах дешифратора активируется строго один выход, соответствующий этому коду.</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79" name="Дешифратор"/>
          <p:cNvSpPr txBox="1"/>
          <p:nvPr>
            <p:ph type="title"/>
          </p:nvPr>
        </p:nvSpPr>
        <p:spPr>
          <a:prstGeom prst="rect">
            <a:avLst/>
          </a:prstGeom>
        </p:spPr>
        <p:txBody>
          <a:bodyPr/>
          <a:lstStyle/>
          <a:p>
            <a:pPr/>
            <a:r>
              <a:t>Дешифратор</a:t>
            </a:r>
          </a:p>
        </p:txBody>
      </p:sp>
      <p:pic>
        <p:nvPicPr>
          <p:cNvPr id="180" name="Изображение" descr="Изображение"/>
          <p:cNvPicPr>
            <a:picLocks noChangeAspect="1"/>
          </p:cNvPicPr>
          <p:nvPr/>
        </p:nvPicPr>
        <p:blipFill>
          <a:blip r:embed="rId3">
            <a:extLst/>
          </a:blip>
          <a:stretch>
            <a:fillRect/>
          </a:stretch>
        </p:blipFill>
        <p:spPr>
          <a:xfrm>
            <a:off x="6361126" y="2582846"/>
            <a:ext cx="11661748" cy="9718124"/>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Подзаголовок слайда"/>
          <p:cNvSpPr txBox="1"/>
          <p:nvPr>
            <p:ph type="body" idx="21"/>
          </p:nvPr>
        </p:nvSpPr>
        <p:spPr>
          <a:prstGeom prst="rect">
            <a:avLst/>
          </a:prstGeom>
        </p:spPr>
        <p:txBody>
          <a:bodyPr/>
          <a:lstStyle/>
          <a:p>
            <a:pPr/>
          </a:p>
        </p:txBody>
      </p:sp>
      <p:sp>
        <p:nvSpPr>
          <p:cNvPr id="183" name="Как работает"/>
          <p:cNvSpPr txBox="1"/>
          <p:nvPr>
            <p:ph type="title"/>
          </p:nvPr>
        </p:nvSpPr>
        <p:spPr>
          <a:prstGeom prst="rect">
            <a:avLst/>
          </a:prstGeom>
        </p:spPr>
        <p:txBody>
          <a:bodyPr/>
          <a:lstStyle>
            <a:lvl1pPr defTabSz="2316479">
              <a:defRPr spc="-95" sz="9500"/>
            </a:lvl1pPr>
          </a:lstStyle>
          <a:p>
            <a:pPr/>
            <a:r>
              <a:t>Как работает</a:t>
            </a:r>
          </a:p>
        </p:txBody>
      </p:sp>
      <p:sp>
        <p:nvSpPr>
          <p:cNvPr id="184" name="Простейший пример — двухвходный дешифратор, который имеет четыре выхода. На входы подаются два бинарных сигнала. В зависимости от комбинации этих сигналов активируется один из четырёх выходов. Формально дешифратор выполняет функцию преобразования n-разря"/>
          <p:cNvSpPr txBox="1"/>
          <p:nvPr>
            <p:ph type="body" idx="1"/>
          </p:nvPr>
        </p:nvSpPr>
        <p:spPr>
          <a:prstGeom prst="rect">
            <a:avLst/>
          </a:prstGeom>
        </p:spPr>
        <p:txBody>
          <a:bodyPr/>
          <a:lstStyle>
            <a:lvl1pPr marL="0" indent="0" algn="just">
              <a:spcBef>
                <a:spcPts val="6000"/>
              </a:spcBef>
              <a:buSzTx/>
              <a:buNone/>
              <a:defRPr sz="5000"/>
            </a:lvl1pPr>
          </a:lstStyle>
          <a:p>
            <a:pPr/>
            <a:r>
              <a:t>Простейший пример — двухвходный дешифратор, который имеет четыре выхода. На входы подаются два бинарных сигнала. В зависимости от комбинации этих сигналов активируется один из четырёх выходов. Формально дешифратор выполняет функцию преобразования n-разрядного двоичного числа в один активный выход из 2ⁿ возможных.</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86" name="Подзаголовок слайда"/>
          <p:cNvSpPr txBox="1"/>
          <p:nvPr>
            <p:ph type="body" idx="21"/>
          </p:nvPr>
        </p:nvSpPr>
        <p:spPr>
          <a:prstGeom prst="rect">
            <a:avLst/>
          </a:prstGeom>
        </p:spPr>
        <p:txBody>
          <a:bodyPr/>
          <a:lstStyle/>
          <a:p>
            <a:pPr/>
          </a:p>
        </p:txBody>
      </p:sp>
      <p:sp>
        <p:nvSpPr>
          <p:cNvPr id="187" name="Классификация дешифраторов"/>
          <p:cNvSpPr txBox="1"/>
          <p:nvPr>
            <p:ph type="title"/>
          </p:nvPr>
        </p:nvSpPr>
        <p:spPr>
          <a:prstGeom prst="rect">
            <a:avLst/>
          </a:prstGeom>
        </p:spPr>
        <p:txBody>
          <a:bodyPr/>
          <a:lstStyle>
            <a:lvl1pPr defTabSz="2316479">
              <a:defRPr spc="-95" sz="9500"/>
            </a:lvl1pPr>
          </a:lstStyle>
          <a:p>
            <a:pPr/>
            <a:r>
              <a:t>Классификация дешифраторов</a:t>
            </a:r>
          </a:p>
        </p:txBody>
      </p:sp>
      <p:sp>
        <p:nvSpPr>
          <p:cNvPr id="188" name="Прямой дешифратор…"/>
          <p:cNvSpPr txBox="1"/>
          <p:nvPr>
            <p:ph type="body" idx="1"/>
          </p:nvPr>
        </p:nvSpPr>
        <p:spPr>
          <a:prstGeom prst="rect">
            <a:avLst/>
          </a:prstGeom>
        </p:spPr>
        <p:txBody>
          <a:bodyPr/>
          <a:lstStyle/>
          <a:p>
            <a:pPr marL="228600" indent="-228600" algn="just">
              <a:spcBef>
                <a:spcPts val="6000"/>
              </a:spcBef>
              <a:defRPr sz="5000"/>
            </a:pPr>
            <a:r>
              <a:t> Прямой дешифратор</a:t>
            </a:r>
          </a:p>
          <a:p>
            <a:pPr marL="228600" indent="-228600" algn="just">
              <a:spcBef>
                <a:spcPts val="6000"/>
              </a:spcBef>
              <a:defRPr sz="5000"/>
            </a:pPr>
            <a:r>
              <a:t> Дешифратор с разрешением</a:t>
            </a:r>
          </a:p>
          <a:p>
            <a:pPr marL="228600" indent="-228600" algn="just">
              <a:spcBef>
                <a:spcPts val="6000"/>
              </a:spcBef>
              <a:defRPr sz="5000"/>
            </a:pPr>
            <a:r>
              <a:t> Частично декодированный</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Подзаголовок слайда"/>
          <p:cNvSpPr txBox="1"/>
          <p:nvPr>
            <p:ph type="body" idx="21"/>
          </p:nvPr>
        </p:nvSpPr>
        <p:spPr>
          <a:prstGeom prst="rect">
            <a:avLst/>
          </a:prstGeom>
        </p:spPr>
        <p:txBody>
          <a:bodyPr/>
          <a:lstStyle/>
          <a:p>
            <a:pPr/>
          </a:p>
        </p:txBody>
      </p:sp>
      <p:sp>
        <p:nvSpPr>
          <p:cNvPr id="191" name="Пример"/>
          <p:cNvSpPr txBox="1"/>
          <p:nvPr>
            <p:ph type="title"/>
          </p:nvPr>
        </p:nvSpPr>
        <p:spPr>
          <a:prstGeom prst="rect">
            <a:avLst/>
          </a:prstGeom>
        </p:spPr>
        <p:txBody>
          <a:bodyPr/>
          <a:lstStyle/>
          <a:p>
            <a:pPr/>
            <a:r>
              <a:t>Пример</a:t>
            </a:r>
          </a:p>
        </p:txBody>
      </p:sp>
      <p:sp>
        <p:nvSpPr>
          <p:cNvPr id="192" name="Наиболее распространённые микросхемы дешифраторов:…"/>
          <p:cNvSpPr txBox="1"/>
          <p:nvPr>
            <p:ph type="body" idx="1"/>
          </p:nvPr>
        </p:nvSpPr>
        <p:spPr>
          <a:prstGeom prst="rect">
            <a:avLst/>
          </a:prstGeom>
        </p:spPr>
        <p:txBody>
          <a:bodyPr/>
          <a:lstStyle/>
          <a:p>
            <a:pPr marL="0" indent="0">
              <a:spcBef>
                <a:spcPts val="6000"/>
              </a:spcBef>
              <a:buSzTx/>
              <a:buNone/>
              <a:defRPr sz="5000"/>
            </a:pPr>
            <a:r>
              <a:t>Наиболее распространённые микросхемы дешифраторов: </a:t>
            </a:r>
          </a:p>
          <a:p>
            <a:pPr marL="228600" indent="-228600">
              <a:spcBef>
                <a:spcPts val="6000"/>
              </a:spcBef>
              <a:defRPr sz="5000"/>
            </a:pPr>
            <a:r>
              <a:t> 74HC138 — 3 кода на входе, 8 выходов, входы разрешения. </a:t>
            </a:r>
          </a:p>
          <a:p>
            <a:pPr marL="228600" indent="-228600">
              <a:spcBef>
                <a:spcPts val="6000"/>
              </a:spcBef>
              <a:defRPr sz="5000"/>
            </a:pPr>
            <a:r>
              <a:t> 74LS42 — 4 кода на входе, 10 выходов. </a:t>
            </a:r>
          </a:p>
          <a:p>
            <a:pPr marL="228600" indent="-228600">
              <a:spcBef>
                <a:spcPts val="6000"/>
              </a:spcBef>
              <a:defRPr sz="5000"/>
            </a:pPr>
            <a:r>
              <a:t> CD4514 — 4 кода на входе, 16 выходов.</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Подзаголовок слайда"/>
          <p:cNvSpPr txBox="1"/>
          <p:nvPr>
            <p:ph type="body" idx="21"/>
          </p:nvPr>
        </p:nvSpPr>
        <p:spPr>
          <a:prstGeom prst="rect">
            <a:avLst/>
          </a:prstGeom>
        </p:spPr>
        <p:txBody>
          <a:bodyPr/>
          <a:lstStyle/>
          <a:p>
            <a:pPr/>
          </a:p>
        </p:txBody>
      </p:sp>
      <p:sp>
        <p:nvSpPr>
          <p:cNvPr id="195" name="Пример"/>
          <p:cNvSpPr txBox="1"/>
          <p:nvPr>
            <p:ph type="title"/>
          </p:nvPr>
        </p:nvSpPr>
        <p:spPr>
          <a:prstGeom prst="rect">
            <a:avLst/>
          </a:prstGeom>
        </p:spPr>
        <p:txBody>
          <a:bodyPr/>
          <a:lstStyle/>
          <a:p>
            <a:pPr/>
            <a:r>
              <a:t>Пример</a:t>
            </a:r>
          </a:p>
        </p:txBody>
      </p:sp>
      <p:pic>
        <p:nvPicPr>
          <p:cNvPr id="196" name="Изображение" descr="Изображение"/>
          <p:cNvPicPr>
            <a:picLocks noChangeAspect="1"/>
          </p:cNvPicPr>
          <p:nvPr/>
        </p:nvPicPr>
        <p:blipFill>
          <a:blip r:embed="rId2">
            <a:extLst/>
          </a:blip>
          <a:stretch>
            <a:fillRect/>
          </a:stretch>
        </p:blipFill>
        <p:spPr>
          <a:xfrm>
            <a:off x="5031953" y="3360238"/>
            <a:ext cx="14320094" cy="9321343"/>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98" name="Дешифратор 3-to-8      74LS138"/>
          <p:cNvSpPr txBox="1"/>
          <p:nvPr>
            <p:ph type="title"/>
          </p:nvPr>
        </p:nvSpPr>
        <p:spPr>
          <a:prstGeom prst="rect">
            <a:avLst/>
          </a:prstGeom>
        </p:spPr>
        <p:txBody>
          <a:bodyPr/>
          <a:lstStyle/>
          <a:p>
            <a:pPr defTabSz="280924">
              <a:defRPr spc="-94" sz="9480"/>
            </a:pPr>
            <a:r>
              <a:t>Дешифратор 3-to-8      </a:t>
            </a:r>
            <a:r>
              <a:rPr u="sng">
                <a:hlinkClick r:id="rId3" invalidUrl="" action="" tgtFrame="" tooltip="" history="1" highlightClick="0" endSnd="0"/>
              </a:rPr>
              <a:t>74LS138</a:t>
            </a:r>
          </a:p>
        </p:txBody>
      </p:sp>
      <p:pic>
        <p:nvPicPr>
          <p:cNvPr id="199" name="Изображение" descr="Изображение"/>
          <p:cNvPicPr>
            <a:picLocks noChangeAspect="1"/>
          </p:cNvPicPr>
          <p:nvPr/>
        </p:nvPicPr>
        <p:blipFill>
          <a:blip r:embed="rId4">
            <a:extLst/>
          </a:blip>
          <a:stretch>
            <a:fillRect/>
          </a:stretch>
        </p:blipFill>
        <p:spPr>
          <a:xfrm>
            <a:off x="6153150" y="2266058"/>
            <a:ext cx="12077700" cy="10629901"/>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Подзаголовок слайда"/>
          <p:cNvSpPr txBox="1"/>
          <p:nvPr>
            <p:ph type="body" idx="21"/>
          </p:nvPr>
        </p:nvSpPr>
        <p:spPr>
          <a:prstGeom prst="rect">
            <a:avLst/>
          </a:prstGeom>
        </p:spPr>
        <p:txBody>
          <a:bodyPr/>
          <a:lstStyle/>
          <a:p>
            <a:pPr/>
          </a:p>
        </p:txBody>
      </p:sp>
      <p:sp>
        <p:nvSpPr>
          <p:cNvPr id="202" name="Что такое шифратор"/>
          <p:cNvSpPr txBox="1"/>
          <p:nvPr>
            <p:ph type="title"/>
          </p:nvPr>
        </p:nvSpPr>
        <p:spPr>
          <a:prstGeom prst="rect">
            <a:avLst/>
          </a:prstGeom>
        </p:spPr>
        <p:txBody>
          <a:bodyPr/>
          <a:lstStyle>
            <a:lvl1pPr defTabSz="2316479">
              <a:defRPr spc="-95" sz="9500"/>
            </a:lvl1pPr>
          </a:lstStyle>
          <a:p>
            <a:pPr/>
            <a:r>
              <a:t>Что такое шифратор</a:t>
            </a:r>
          </a:p>
        </p:txBody>
      </p:sp>
      <p:sp>
        <p:nvSpPr>
          <p:cNvPr id="203" name="Это устройство, выполняющее обратную функцию по сравнению с дешифратором. Его задача заключается в преобразовании сигнала с одного из активных входов в соответствующий двоичный код на выходе. В отличие от дешифратора, у шифратора количество входов больше"/>
          <p:cNvSpPr txBox="1"/>
          <p:nvPr>
            <p:ph type="body" idx="1"/>
          </p:nvPr>
        </p:nvSpPr>
        <p:spPr>
          <a:prstGeom prst="rect">
            <a:avLst/>
          </a:prstGeom>
        </p:spPr>
        <p:txBody>
          <a:bodyPr/>
          <a:lstStyle>
            <a:lvl1pPr marL="0" indent="0">
              <a:spcBef>
                <a:spcPts val="6000"/>
              </a:spcBef>
              <a:buSzTx/>
              <a:buNone/>
              <a:defRPr sz="5000"/>
            </a:lvl1pPr>
          </a:lstStyle>
          <a:p>
            <a:pPr/>
            <a:r>
              <a:t>Это устройство, выполняющее обратную функцию по сравнению с дешифратором. Его задача заключается в преобразовании сигнала с одного из активных входов в соответствующий двоичный код на выходе. В отличие от дешифратора, у шифратора количество входов больше числа выходов, поскольку входами управляют отдельные линии, а выходом является код.</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Шифратор"/>
          <p:cNvSpPr txBox="1"/>
          <p:nvPr>
            <p:ph type="title"/>
          </p:nvPr>
        </p:nvSpPr>
        <p:spPr>
          <a:prstGeom prst="rect">
            <a:avLst/>
          </a:prstGeom>
        </p:spPr>
        <p:txBody>
          <a:bodyPr/>
          <a:lstStyle/>
          <a:p>
            <a:pPr/>
            <a:r>
              <a:t>Шифратор</a:t>
            </a:r>
          </a:p>
        </p:txBody>
      </p:sp>
      <p:pic>
        <p:nvPicPr>
          <p:cNvPr id="206" name="Изображение" descr="Изображение"/>
          <p:cNvPicPr>
            <a:picLocks noChangeAspect="1"/>
          </p:cNvPicPr>
          <p:nvPr/>
        </p:nvPicPr>
        <p:blipFill>
          <a:blip r:embed="rId2">
            <a:extLst/>
          </a:blip>
          <a:stretch>
            <a:fillRect/>
          </a:stretch>
        </p:blipFill>
        <p:spPr>
          <a:xfrm>
            <a:off x="5747398" y="2481171"/>
            <a:ext cx="12889204" cy="10437111"/>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Подзаголовок слайда"/>
          <p:cNvSpPr txBox="1"/>
          <p:nvPr>
            <p:ph type="body" idx="21"/>
          </p:nvPr>
        </p:nvSpPr>
        <p:spPr>
          <a:prstGeom prst="rect">
            <a:avLst/>
          </a:prstGeom>
        </p:spPr>
        <p:txBody>
          <a:bodyPr/>
          <a:lstStyle/>
          <a:p>
            <a:pPr/>
          </a:p>
        </p:txBody>
      </p:sp>
      <p:sp>
        <p:nvSpPr>
          <p:cNvPr id="209" name="Как работает"/>
          <p:cNvSpPr txBox="1"/>
          <p:nvPr>
            <p:ph type="title"/>
          </p:nvPr>
        </p:nvSpPr>
        <p:spPr>
          <a:prstGeom prst="rect">
            <a:avLst/>
          </a:prstGeom>
        </p:spPr>
        <p:txBody>
          <a:bodyPr/>
          <a:lstStyle>
            <a:lvl1pPr defTabSz="2316479">
              <a:defRPr spc="-95" sz="9500"/>
            </a:lvl1pPr>
          </a:lstStyle>
          <a:p>
            <a:pPr/>
            <a:r>
              <a:t>Как работает</a:t>
            </a:r>
          </a:p>
        </p:txBody>
      </p:sp>
      <p:sp>
        <p:nvSpPr>
          <p:cNvPr id="210" name="Для шифратора характерна функция выбора кода, соответствующего активному входу. Если активировано несколько входов одновременно, то в зависимости от типа шифратора может выдаваться код с наибольшим приоритетом либо результат может быть неопределённым."/>
          <p:cNvSpPr txBox="1"/>
          <p:nvPr>
            <p:ph type="body" idx="1"/>
          </p:nvPr>
        </p:nvSpPr>
        <p:spPr>
          <a:prstGeom prst="rect">
            <a:avLst/>
          </a:prstGeom>
        </p:spPr>
        <p:txBody>
          <a:bodyPr/>
          <a:lstStyle>
            <a:lvl1pPr marL="0" indent="0" algn="just">
              <a:spcBef>
                <a:spcPts val="6000"/>
              </a:spcBef>
              <a:buSzTx/>
              <a:buNone/>
              <a:defRPr sz="5000"/>
            </a:lvl1pPr>
          </a:lstStyle>
          <a:p>
            <a:pPr/>
            <a:r>
              <a:t>Для шифратора характерна функция выбора кода, соответствующего активному входу. Если активировано несколько входов одновременно, то в зависимости от типа шифратора может выдаваться код с наибольшим приоритетом либо результат может быть неопределённым.</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Подзаголовок слайда"/>
          <p:cNvSpPr txBox="1"/>
          <p:nvPr>
            <p:ph type="body" idx="21"/>
          </p:nvPr>
        </p:nvSpPr>
        <p:spPr>
          <a:prstGeom prst="rect">
            <a:avLst/>
          </a:prstGeom>
        </p:spPr>
        <p:txBody>
          <a:bodyPr/>
          <a:lstStyle/>
          <a:p>
            <a:pPr/>
          </a:p>
        </p:txBody>
      </p:sp>
      <p:sp>
        <p:nvSpPr>
          <p:cNvPr id="213" name="Классификация шифраторов"/>
          <p:cNvSpPr txBox="1"/>
          <p:nvPr>
            <p:ph type="title"/>
          </p:nvPr>
        </p:nvSpPr>
        <p:spPr>
          <a:prstGeom prst="rect">
            <a:avLst/>
          </a:prstGeom>
        </p:spPr>
        <p:txBody>
          <a:bodyPr/>
          <a:lstStyle>
            <a:lvl1pPr defTabSz="280924">
              <a:defRPr spc="-94" sz="9480"/>
            </a:lvl1pPr>
          </a:lstStyle>
          <a:p>
            <a:pPr/>
            <a:r>
              <a:t>Классификация шифраторов</a:t>
            </a:r>
          </a:p>
        </p:txBody>
      </p:sp>
      <p:sp>
        <p:nvSpPr>
          <p:cNvPr id="214" name="Прямой шифратор…"/>
          <p:cNvSpPr txBox="1"/>
          <p:nvPr>
            <p:ph type="body" idx="1"/>
          </p:nvPr>
        </p:nvSpPr>
        <p:spPr>
          <a:prstGeom prst="rect">
            <a:avLst/>
          </a:prstGeom>
        </p:spPr>
        <p:txBody>
          <a:bodyPr/>
          <a:lstStyle/>
          <a:p>
            <a:pPr marL="571500" indent="-571500">
              <a:spcBef>
                <a:spcPts val="6000"/>
              </a:spcBef>
              <a:defRPr sz="5000"/>
            </a:pPr>
            <a:r>
              <a:t>Прямой шифратор</a:t>
            </a:r>
          </a:p>
          <a:p>
            <a:pPr marL="571500" indent="-571500">
              <a:spcBef>
                <a:spcPts val="6000"/>
              </a:spcBef>
              <a:defRPr sz="5000"/>
            </a:pPr>
            <a:r>
              <a:t>Приоритетный шифратор</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Подзаголовок слайда"/>
          <p:cNvSpPr txBox="1"/>
          <p:nvPr>
            <p:ph type="body" idx="21"/>
          </p:nvPr>
        </p:nvSpPr>
        <p:spPr>
          <a:prstGeom prst="rect">
            <a:avLst/>
          </a:prstGeom>
        </p:spPr>
        <p:txBody>
          <a:bodyPr/>
          <a:lstStyle/>
          <a:p>
            <a:pPr/>
          </a:p>
        </p:txBody>
      </p:sp>
      <p:sp>
        <p:nvSpPr>
          <p:cNvPr id="217" name="Примеры микросхем шифраторов"/>
          <p:cNvSpPr txBox="1"/>
          <p:nvPr>
            <p:ph type="title"/>
          </p:nvPr>
        </p:nvSpPr>
        <p:spPr>
          <a:prstGeom prst="rect">
            <a:avLst/>
          </a:prstGeom>
        </p:spPr>
        <p:txBody>
          <a:bodyPr/>
          <a:lstStyle>
            <a:lvl1pPr defTabSz="2316479">
              <a:defRPr spc="-95" sz="9500"/>
            </a:lvl1pPr>
          </a:lstStyle>
          <a:p>
            <a:pPr/>
            <a:r>
              <a:t>Примеры микросхем шифраторов</a:t>
            </a:r>
          </a:p>
        </p:txBody>
      </p:sp>
      <p:sp>
        <p:nvSpPr>
          <p:cNvPr id="218" name="Примеры популярных микросхем шифраторов:…"/>
          <p:cNvSpPr txBox="1"/>
          <p:nvPr>
            <p:ph type="body" idx="1"/>
          </p:nvPr>
        </p:nvSpPr>
        <p:spPr>
          <a:prstGeom prst="rect">
            <a:avLst/>
          </a:prstGeom>
        </p:spPr>
        <p:txBody>
          <a:bodyPr/>
          <a:lstStyle/>
          <a:p>
            <a:pPr marL="0" indent="0">
              <a:spcBef>
                <a:spcPts val="6000"/>
              </a:spcBef>
              <a:buSzTx/>
              <a:buNone/>
              <a:defRPr sz="5000"/>
            </a:pPr>
            <a:r>
              <a:t>Примеры популярных микросхем шифраторов: </a:t>
            </a:r>
          </a:p>
          <a:p>
            <a:pPr marL="228600" indent="-228600">
              <a:spcBef>
                <a:spcPts val="6000"/>
              </a:spcBef>
              <a:defRPr sz="5000"/>
            </a:pPr>
            <a:r>
              <a:t> 74HC148 — 8 входов, 3 кода на выходе, приоритетный. </a:t>
            </a:r>
          </a:p>
          <a:p>
            <a:pPr marL="228600" indent="-228600">
              <a:spcBef>
                <a:spcPts val="6000"/>
              </a:spcBef>
              <a:defRPr sz="5000"/>
            </a:pPr>
            <a:r>
              <a:t> 74LS147 — 10 входов, 4 кода на выходе.</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Подзаголовок слайда"/>
          <p:cNvSpPr txBox="1"/>
          <p:nvPr>
            <p:ph type="body" idx="21"/>
          </p:nvPr>
        </p:nvSpPr>
        <p:spPr>
          <a:prstGeom prst="rect">
            <a:avLst/>
          </a:prstGeom>
        </p:spPr>
        <p:txBody>
          <a:bodyPr/>
          <a:lstStyle/>
          <a:p>
            <a:pPr/>
          </a:p>
        </p:txBody>
      </p:sp>
      <p:sp>
        <p:nvSpPr>
          <p:cNvPr id="221" name="Пример"/>
          <p:cNvSpPr txBox="1"/>
          <p:nvPr>
            <p:ph type="title"/>
          </p:nvPr>
        </p:nvSpPr>
        <p:spPr>
          <a:prstGeom prst="rect">
            <a:avLst/>
          </a:prstGeom>
        </p:spPr>
        <p:txBody>
          <a:bodyPr/>
          <a:lstStyle/>
          <a:p>
            <a:pPr/>
            <a:r>
              <a:t>Пример</a:t>
            </a:r>
          </a:p>
        </p:txBody>
      </p:sp>
      <p:pic>
        <p:nvPicPr>
          <p:cNvPr id="222" name="Изображение" descr="Изображение"/>
          <p:cNvPicPr>
            <a:picLocks noChangeAspect="1"/>
          </p:cNvPicPr>
          <p:nvPr/>
        </p:nvPicPr>
        <p:blipFill>
          <a:blip r:embed="rId2">
            <a:extLst/>
          </a:blip>
          <a:stretch>
            <a:fillRect/>
          </a:stretch>
        </p:blipFill>
        <p:spPr>
          <a:xfrm>
            <a:off x="5981041" y="4019250"/>
            <a:ext cx="12421918" cy="8714519"/>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Таблица истинности дешифратора 3-8"/>
          <p:cNvSpPr txBox="1"/>
          <p:nvPr>
            <p:ph type="title"/>
          </p:nvPr>
        </p:nvSpPr>
        <p:spPr>
          <a:prstGeom prst="rect">
            <a:avLst/>
          </a:prstGeom>
        </p:spPr>
        <p:txBody>
          <a:bodyPr/>
          <a:lstStyle>
            <a:lvl1pPr defTabSz="2316479">
              <a:defRPr spc="-95" sz="9500"/>
            </a:lvl1pPr>
          </a:lstStyle>
          <a:p>
            <a:pPr/>
            <a:r>
              <a:t>Таблица истинности дешифратора 3-8 </a:t>
            </a:r>
          </a:p>
        </p:txBody>
      </p:sp>
      <p:pic>
        <p:nvPicPr>
          <p:cNvPr id="225" name="вставленный-фильм.png" descr="вставленный-фильм.png"/>
          <p:cNvPicPr>
            <a:picLocks noChangeAspect="1"/>
          </p:cNvPicPr>
          <p:nvPr/>
        </p:nvPicPr>
        <p:blipFill>
          <a:blip r:embed="rId2">
            <a:extLst/>
          </a:blip>
          <a:stretch>
            <a:fillRect/>
          </a:stretch>
        </p:blipFill>
        <p:spPr>
          <a:xfrm>
            <a:off x="281071" y="2884408"/>
            <a:ext cx="23821858" cy="9637113"/>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27" name="Таблица истинности приортитетного шифратора 8-3"/>
          <p:cNvSpPr txBox="1"/>
          <p:nvPr>
            <p:ph type="title"/>
          </p:nvPr>
        </p:nvSpPr>
        <p:spPr>
          <a:prstGeom prst="rect">
            <a:avLst/>
          </a:prstGeom>
        </p:spPr>
        <p:txBody>
          <a:bodyPr/>
          <a:lstStyle>
            <a:lvl1pPr defTabSz="1901951">
              <a:defRPr spc="-78" sz="7800"/>
            </a:lvl1pPr>
          </a:lstStyle>
          <a:p>
            <a:pPr/>
            <a:r>
              <a:t>Таблица истинности приортитетного шифратора 8-3</a:t>
            </a:r>
          </a:p>
        </p:txBody>
      </p:sp>
      <p:pic>
        <p:nvPicPr>
          <p:cNvPr id="228" name="вставленный-фильм.png" descr="вставленный-фильм.png"/>
          <p:cNvPicPr>
            <a:picLocks noChangeAspect="1"/>
          </p:cNvPicPr>
          <p:nvPr/>
        </p:nvPicPr>
        <p:blipFill>
          <a:blip r:embed="rId3">
            <a:extLst/>
          </a:blip>
          <a:stretch>
            <a:fillRect/>
          </a:stretch>
        </p:blipFill>
        <p:spPr>
          <a:xfrm>
            <a:off x="222271" y="2461437"/>
            <a:ext cx="23939459" cy="9756639"/>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Схемы реализации"/>
          <p:cNvSpPr txBox="1"/>
          <p:nvPr>
            <p:ph type="title"/>
          </p:nvPr>
        </p:nvSpPr>
        <p:spPr>
          <a:prstGeom prst="rect">
            <a:avLst/>
          </a:prstGeom>
        </p:spPr>
        <p:txBody>
          <a:bodyPr/>
          <a:lstStyle>
            <a:lvl1pPr defTabSz="2316479">
              <a:defRPr spc="-95" sz="9500"/>
            </a:lvl1pPr>
          </a:lstStyle>
          <a:p>
            <a:pPr/>
            <a:r>
              <a:t>Схемы реализации</a:t>
            </a:r>
          </a:p>
        </p:txBody>
      </p:sp>
      <p:pic>
        <p:nvPicPr>
          <p:cNvPr id="231" name="4520052520.gif" descr="4520052520.gif"/>
          <p:cNvPicPr>
            <a:picLocks noChangeAspect="0"/>
          </p:cNvPicPr>
          <p:nvPr/>
        </p:nvPicPr>
        <p:blipFill>
          <a:blip r:embed="rId2">
            <a:extLst/>
          </a:blip>
          <a:stretch>
            <a:fillRect/>
          </a:stretch>
        </p:blipFill>
        <p:spPr>
          <a:xfrm>
            <a:off x="3139605" y="2585741"/>
            <a:ext cx="18104790" cy="10303272"/>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Подзаголовок слайда"/>
          <p:cNvSpPr txBox="1"/>
          <p:nvPr>
            <p:ph type="body" idx="21"/>
          </p:nvPr>
        </p:nvSpPr>
        <p:spPr>
          <a:prstGeom prst="rect">
            <a:avLst/>
          </a:prstGeom>
        </p:spPr>
        <p:txBody>
          <a:bodyPr/>
          <a:lstStyle/>
          <a:p>
            <a:pPr/>
          </a:p>
        </p:txBody>
      </p:sp>
      <p:sp>
        <p:nvSpPr>
          <p:cNvPr id="234" name="Реализация дешифраторов"/>
          <p:cNvSpPr txBox="1"/>
          <p:nvPr>
            <p:ph type="title"/>
          </p:nvPr>
        </p:nvSpPr>
        <p:spPr>
          <a:prstGeom prst="rect">
            <a:avLst/>
          </a:prstGeom>
        </p:spPr>
        <p:txBody>
          <a:bodyPr/>
          <a:lstStyle>
            <a:lvl1pPr defTabSz="280924">
              <a:defRPr spc="-94" sz="9480"/>
            </a:lvl1pPr>
          </a:lstStyle>
          <a:p>
            <a:pPr/>
            <a:r>
              <a:t>Реализация дешифраторов</a:t>
            </a:r>
          </a:p>
        </p:txBody>
      </p:sp>
      <p:sp>
        <p:nvSpPr>
          <p:cNvPr id="235" name="Дешифраторы могут быть реализованы на основе комбинаций логических вентилей И и НЕ. Рассмотрим пример построения 2-4 дешифратора. Устройство имеет два входа: 𝐴1 и 𝐴0, и четыре выхода: 𝑌0, 𝑌1, 𝑌2, 𝑌3.…"/>
          <p:cNvSpPr txBox="1"/>
          <p:nvPr>
            <p:ph type="body" idx="1"/>
          </p:nvPr>
        </p:nvSpPr>
        <p:spPr>
          <a:prstGeom prst="rect">
            <a:avLst/>
          </a:prstGeom>
        </p:spPr>
        <p:txBody>
          <a:bodyPr/>
          <a:lstStyle/>
          <a:p>
            <a:pPr marL="0" indent="0" defTabSz="305815">
              <a:spcBef>
                <a:spcPts val="5100"/>
              </a:spcBef>
              <a:buSzTx/>
              <a:buNone/>
              <a:defRPr sz="4300"/>
            </a:pPr>
            <a:r>
              <a:t>Дешифраторы могут быть реализованы на основе комбинаций логических вентилей И и НЕ. Рассмотрим пример построения 2-4 дешифратора. Устройство имеет два входа: 𝐴1 и 𝐴0, и четыре выхода: 𝑌0, 𝑌1, 𝑌2, 𝑌3.</a:t>
            </a:r>
          </a:p>
          <a:p>
            <a:pPr marL="0" indent="0" defTabSz="305815">
              <a:spcBef>
                <a:spcPts val="5100"/>
              </a:spcBef>
              <a:buSzTx/>
              <a:buNone/>
              <a:defRPr sz="4300"/>
            </a:pPr>
            <a:r>
              <a:t>Комбинации выходов:</a:t>
            </a:r>
          </a:p>
          <a:p>
            <a:pPr marL="0" indent="0" defTabSz="305815">
              <a:spcBef>
                <a:spcPts val="5100"/>
              </a:spcBef>
              <a:buSzTx/>
              <a:buNone/>
              <a:defRPr sz="4300"/>
            </a:pPr>
            <a:r>
              <a:t>Схема строится из двух инверторов, которые формируют сигналы не𝐴1 и не𝐴0, и четырёх вентилей И на два входа каждый, которые генерируют выходные сигналы в соответствии с вышеуказанными формулами.</a:t>
            </a:r>
          </a:p>
          <a:p>
            <a:pPr marL="0" indent="0" defTabSz="305815">
              <a:spcBef>
                <a:spcPts val="5100"/>
              </a:spcBef>
              <a:buSzTx/>
              <a:buNone/>
              <a:defRPr sz="4300"/>
            </a:pPr>
            <a:r>
              <a:rPr u="sng">
                <a:hlinkClick r:id="rId2" invalidUrl="" action="" tgtFrame="" tooltip="" history="1" highlightClick="0" endSnd="0"/>
              </a:rPr>
              <a:t>Калькулятор шифратора</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37" name="Подзаголовок слайда"/>
          <p:cNvSpPr txBox="1"/>
          <p:nvPr>
            <p:ph type="body" idx="21"/>
          </p:nvPr>
        </p:nvSpPr>
        <p:spPr>
          <a:prstGeom prst="rect">
            <a:avLst/>
          </a:prstGeom>
        </p:spPr>
        <p:txBody>
          <a:bodyPr/>
          <a:lstStyle/>
          <a:p>
            <a:pPr/>
          </a:p>
        </p:txBody>
      </p:sp>
      <p:sp>
        <p:nvSpPr>
          <p:cNvPr id="238" name="Реализация шифраторов на логических элементах"/>
          <p:cNvSpPr txBox="1"/>
          <p:nvPr>
            <p:ph type="title"/>
          </p:nvPr>
        </p:nvSpPr>
        <p:spPr>
          <a:prstGeom prst="rect">
            <a:avLst/>
          </a:prstGeom>
        </p:spPr>
        <p:txBody>
          <a:bodyPr/>
          <a:lstStyle>
            <a:lvl1pPr defTabSz="245363">
              <a:defRPr spc="-82" sz="8280"/>
            </a:lvl1pPr>
          </a:lstStyle>
          <a:p>
            <a:pPr/>
            <a:r>
              <a:t>Реализация шифраторов на логических элементах</a:t>
            </a:r>
          </a:p>
        </p:txBody>
      </p:sp>
      <p:sp>
        <p:nvSpPr>
          <p:cNvPr id="239" name="Шифраторы также могут быть построены с использованием вентилей И, ИЛИ и НЕ. Рассмотрим простой 4-2 шифратор. Он имеет четыре входа: 𝐷3, 𝐷2, 𝐷1, 𝐷0 и два выхода: 𝑌1, 𝑌0.…"/>
          <p:cNvSpPr txBox="1"/>
          <p:nvPr>
            <p:ph type="body" idx="1"/>
          </p:nvPr>
        </p:nvSpPr>
        <p:spPr>
          <a:prstGeom prst="rect">
            <a:avLst/>
          </a:prstGeom>
        </p:spPr>
        <p:txBody>
          <a:bodyPr/>
          <a:lstStyle/>
          <a:p>
            <a:pPr marL="0" indent="0">
              <a:spcBef>
                <a:spcPts val="6000"/>
              </a:spcBef>
              <a:buSzTx/>
              <a:buNone/>
              <a:defRPr sz="5000"/>
            </a:pPr>
            <a:r>
              <a:t>Шифраторы также могут быть построены с использованием вентилей И, ИЛИ и НЕ. Рассмотрим простой 4-2 шифратор. Он имеет четыре входа: 𝐷3, 𝐷2, 𝐷1, 𝐷0 и два выхода: 𝑌1, 𝑌0.</a:t>
            </a:r>
          </a:p>
          <a:p>
            <a:pPr marL="0" indent="0">
              <a:spcBef>
                <a:spcPts val="6000"/>
              </a:spcBef>
              <a:buSzTx/>
              <a:buNone/>
              <a:defRPr sz="5000"/>
            </a:pPr>
            <a:r>
              <a:t>В случае приоритетного шифратора к этим формулам добавляются элементы для блокировки низкоприоритетных входов, если активен более приоритетный</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Подзаголовок слайда"/>
          <p:cNvSpPr txBox="1"/>
          <p:nvPr>
            <p:ph type="body" idx="21"/>
          </p:nvPr>
        </p:nvSpPr>
        <p:spPr>
          <a:prstGeom prst="rect">
            <a:avLst/>
          </a:prstGeom>
        </p:spPr>
        <p:txBody>
          <a:bodyPr/>
          <a:lstStyle/>
          <a:p>
            <a:pPr/>
          </a:p>
        </p:txBody>
      </p:sp>
      <p:sp>
        <p:nvSpPr>
          <p:cNvPr id="242" name="Формирование таблиц истинности"/>
          <p:cNvSpPr txBox="1"/>
          <p:nvPr>
            <p:ph type="title"/>
          </p:nvPr>
        </p:nvSpPr>
        <p:spPr>
          <a:prstGeom prst="rect">
            <a:avLst/>
          </a:prstGeom>
        </p:spPr>
        <p:txBody>
          <a:bodyPr/>
          <a:lstStyle>
            <a:lvl1pPr defTabSz="280924">
              <a:defRPr spc="-94" sz="9480"/>
            </a:lvl1pPr>
          </a:lstStyle>
          <a:p>
            <a:pPr/>
            <a:r>
              <a:t>Формирование таблиц истинности</a:t>
            </a:r>
          </a:p>
        </p:txBody>
      </p:sp>
      <p:sp>
        <p:nvSpPr>
          <p:cNvPr id="243" name="Для начала проектирования составляется таблица истинности устройства с описанием всех возможных входных комбинаций и соответствующих выходных значений. Это позволяет определить минимально необходимый набор логических выражений для каждого выхода."/>
          <p:cNvSpPr txBox="1"/>
          <p:nvPr>
            <p:ph type="body" idx="1"/>
          </p:nvPr>
        </p:nvSpPr>
        <p:spPr>
          <a:prstGeom prst="rect">
            <a:avLst/>
          </a:prstGeom>
        </p:spPr>
        <p:txBody>
          <a:bodyPr/>
          <a:lstStyle>
            <a:lvl1pPr marL="0" indent="0">
              <a:spcBef>
                <a:spcPts val="6000"/>
              </a:spcBef>
              <a:buSzTx/>
              <a:buNone/>
              <a:defRPr sz="5000"/>
            </a:lvl1pPr>
          </a:lstStyle>
          <a:p>
            <a:pPr/>
            <a:r>
              <a:t>Для начала проектирования составляется таблица истинности устройства с описанием всех возможных входных комбинаций и соответствующих выходных значений. Это позволяет определить минимально необходимый набор логических выражений для каждого выхода.</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45" name="Подзаголовок слайда"/>
          <p:cNvSpPr txBox="1"/>
          <p:nvPr>
            <p:ph type="body" idx="21"/>
          </p:nvPr>
        </p:nvSpPr>
        <p:spPr>
          <a:prstGeom prst="rect">
            <a:avLst/>
          </a:prstGeom>
        </p:spPr>
        <p:txBody>
          <a:bodyPr/>
          <a:lstStyle/>
          <a:p>
            <a:pPr/>
          </a:p>
        </p:txBody>
      </p:sp>
      <p:sp>
        <p:nvSpPr>
          <p:cNvPr id="246" name="Минимизация логических выражений"/>
          <p:cNvSpPr txBox="1"/>
          <p:nvPr>
            <p:ph type="title"/>
          </p:nvPr>
        </p:nvSpPr>
        <p:spPr>
          <a:prstGeom prst="rect">
            <a:avLst/>
          </a:prstGeom>
        </p:spPr>
        <p:txBody>
          <a:bodyPr/>
          <a:lstStyle>
            <a:lvl1pPr defTabSz="280924">
              <a:defRPr spc="-94" sz="9480"/>
            </a:lvl1pPr>
          </a:lstStyle>
          <a:p>
            <a:pPr/>
            <a:r>
              <a:t>Минимизация логических выражений</a:t>
            </a:r>
          </a:p>
        </p:txBody>
      </p:sp>
      <p:sp>
        <p:nvSpPr>
          <p:cNvPr id="247" name="Для уменьшения количества используемых логических элементов применяются методы минимизации логических выражений: карты Карно, метод Куайна-Мак-Класки и другие. Это позволяет снизить аппаратные затраты и упростить схему."/>
          <p:cNvSpPr txBox="1"/>
          <p:nvPr>
            <p:ph type="body" idx="1"/>
          </p:nvPr>
        </p:nvSpPr>
        <p:spPr>
          <a:prstGeom prst="rect">
            <a:avLst/>
          </a:prstGeom>
        </p:spPr>
        <p:txBody>
          <a:bodyPr/>
          <a:lstStyle>
            <a:lvl1pPr marL="0" indent="0">
              <a:spcBef>
                <a:spcPts val="6000"/>
              </a:spcBef>
              <a:buSzTx/>
              <a:buNone/>
              <a:defRPr sz="5000"/>
            </a:lvl1pPr>
          </a:lstStyle>
          <a:p>
            <a:pPr/>
            <a:r>
              <a:t>Для уменьшения количества используемых логических элементов применяются методы минимизации логических выражений: карты Карно, метод Куайна-Мак-Класки и другие. Это позволяет снизить аппаратные затраты и упростить схему.</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49" name="Подзаголовок слайда"/>
          <p:cNvSpPr txBox="1"/>
          <p:nvPr>
            <p:ph type="body" idx="21"/>
          </p:nvPr>
        </p:nvSpPr>
        <p:spPr>
          <a:prstGeom prst="rect">
            <a:avLst/>
          </a:prstGeom>
        </p:spPr>
        <p:txBody>
          <a:bodyPr/>
          <a:lstStyle/>
          <a:p>
            <a:pPr/>
          </a:p>
        </p:txBody>
      </p:sp>
      <p:sp>
        <p:nvSpPr>
          <p:cNvPr id="250" name="Учёт задержек"/>
          <p:cNvSpPr txBox="1"/>
          <p:nvPr>
            <p:ph type="title"/>
          </p:nvPr>
        </p:nvSpPr>
        <p:spPr>
          <a:prstGeom prst="rect">
            <a:avLst/>
          </a:prstGeom>
        </p:spPr>
        <p:txBody>
          <a:bodyPr/>
          <a:lstStyle>
            <a:lvl1pPr defTabSz="280924">
              <a:defRPr spc="-94" sz="9480"/>
            </a:lvl1pPr>
          </a:lstStyle>
          <a:p>
            <a:pPr/>
            <a:r>
              <a:t>Учёт задержек</a:t>
            </a:r>
          </a:p>
        </p:txBody>
      </p:sp>
      <p:sp>
        <p:nvSpPr>
          <p:cNvPr id="251" name="При проектировании важно учитывать задержки прохождения сигнала через логические элементы. Дешифраторы и шифраторы являются комбинационными схемами, и их задержка определяется количеством уровней логических вентилей, через которые проходит сигнал от вход"/>
          <p:cNvSpPr txBox="1"/>
          <p:nvPr>
            <p:ph type="body" idx="1"/>
          </p:nvPr>
        </p:nvSpPr>
        <p:spPr>
          <a:prstGeom prst="rect">
            <a:avLst/>
          </a:prstGeom>
        </p:spPr>
        <p:txBody>
          <a:bodyPr/>
          <a:lstStyle/>
          <a:p>
            <a:pPr marL="0" indent="0" algn="just" defTabSz="341375">
              <a:spcBef>
                <a:spcPts val="5700"/>
              </a:spcBef>
              <a:buSzTx/>
              <a:buNone/>
              <a:defRPr sz="4800"/>
            </a:pPr>
            <a:r>
              <a:t>При проектировании важно учитывать задержки прохождения сигнала через логические элементы. Дешифраторы и шифраторы являются комбинационными схемами, и их задержка определяется количеством уровней логических вентилей, через которые проходит сигнал от входа до выхода: </a:t>
            </a:r>
          </a:p>
          <a:p>
            <a:pPr marL="0" indent="0" algn="just" defTabSz="341375">
              <a:spcBef>
                <a:spcPts val="5700"/>
              </a:spcBef>
              <a:buSzTx/>
              <a:buNone/>
              <a:defRPr sz="4800"/>
            </a:pPr>
          </a:p>
          <a:p>
            <a:pPr marL="0" indent="0" algn="just" defTabSz="341375">
              <a:spcBef>
                <a:spcPts val="5700"/>
              </a:spcBef>
              <a:buSzTx/>
              <a:buNone/>
              <a:defRPr sz="4800"/>
            </a:pPr>
            <a:r>
              <a:t>где 𝑡𝑑 — общая задержка, 𝑛 — число уровней вентилей, 𝑡𝑔 — задержка одного вентиля.</a:t>
            </a:r>
          </a:p>
        </p:txBody>
      </p:sp>
      <p:pic>
        <p:nvPicPr>
          <p:cNvPr id="252" name="вставленный-фильм.png" descr="вставленный-фильм.png"/>
          <p:cNvPicPr>
            <a:picLocks noChangeAspect="1"/>
          </p:cNvPicPr>
          <p:nvPr/>
        </p:nvPicPr>
        <p:blipFill>
          <a:blip r:embed="rId3">
            <a:extLst/>
          </a:blip>
          <a:stretch>
            <a:fillRect/>
          </a:stretch>
        </p:blipFill>
        <p:spPr>
          <a:xfrm>
            <a:off x="9747452" y="8409004"/>
            <a:ext cx="4889096" cy="1541608"/>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54" name="Подзаголовок слайда"/>
          <p:cNvSpPr txBox="1"/>
          <p:nvPr>
            <p:ph type="body" idx="21"/>
          </p:nvPr>
        </p:nvSpPr>
        <p:spPr>
          <a:prstGeom prst="rect">
            <a:avLst/>
          </a:prstGeom>
        </p:spPr>
        <p:txBody>
          <a:bodyPr/>
          <a:lstStyle/>
          <a:p>
            <a:pPr/>
          </a:p>
        </p:txBody>
      </p:sp>
      <p:sp>
        <p:nvSpPr>
          <p:cNvPr id="255" name="Задержка распространения сигнала"/>
          <p:cNvSpPr txBox="1"/>
          <p:nvPr>
            <p:ph type="title"/>
          </p:nvPr>
        </p:nvSpPr>
        <p:spPr>
          <a:prstGeom prst="rect">
            <a:avLst/>
          </a:prstGeom>
        </p:spPr>
        <p:txBody>
          <a:bodyPr/>
          <a:lstStyle>
            <a:lvl1pPr defTabSz="280924">
              <a:defRPr spc="-94" sz="9480"/>
            </a:lvl1pPr>
          </a:lstStyle>
          <a:p>
            <a:pPr/>
            <a:r>
              <a:t>Задержка распространения сигнала</a:t>
            </a:r>
          </a:p>
        </p:txBody>
      </p:sp>
      <p:sp>
        <p:nvSpPr>
          <p:cNvPr id="256" name="Задержка распространения (propagation delay) — это время от момента изменения сигнала на входе до появления корректного сигнала на выходе. Для дешифраторов с большим числом выходов задержка может быть значительной, что важно учитывать при проектировании "/>
          <p:cNvSpPr txBox="1"/>
          <p:nvPr>
            <p:ph type="body" idx="1"/>
          </p:nvPr>
        </p:nvSpPr>
        <p:spPr>
          <a:prstGeom prst="rect">
            <a:avLst/>
          </a:prstGeom>
        </p:spPr>
        <p:txBody>
          <a:bodyPr/>
          <a:lstStyle>
            <a:lvl1pPr marL="0" indent="0" algn="just">
              <a:spcBef>
                <a:spcPts val="6000"/>
              </a:spcBef>
              <a:buSzTx/>
              <a:buNone/>
              <a:defRPr sz="5000"/>
            </a:lvl1pPr>
          </a:lstStyle>
          <a:p>
            <a:pPr/>
            <a:r>
              <a:t>Задержка распространения (propagation delay) — это время от момента изменения сигнала на входе до появления корректного сигнала на выходе. Для дешифраторов с большим числом выходов задержка может быть значительной, что важно учитывать при проектировании высокоскоростных схем.</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58" name="Подзаголовок слайда"/>
          <p:cNvSpPr txBox="1"/>
          <p:nvPr>
            <p:ph type="body" idx="21"/>
          </p:nvPr>
        </p:nvSpPr>
        <p:spPr>
          <a:prstGeom prst="rect">
            <a:avLst/>
          </a:prstGeom>
        </p:spPr>
        <p:txBody>
          <a:bodyPr/>
          <a:lstStyle/>
          <a:p>
            <a:pPr/>
          </a:p>
        </p:txBody>
      </p:sp>
      <p:sp>
        <p:nvSpPr>
          <p:cNvPr id="259" name="Генерация ложных срабатываний"/>
          <p:cNvSpPr txBox="1"/>
          <p:nvPr>
            <p:ph type="title"/>
          </p:nvPr>
        </p:nvSpPr>
        <p:spPr>
          <a:prstGeom prst="rect">
            <a:avLst/>
          </a:prstGeom>
        </p:spPr>
        <p:txBody>
          <a:bodyPr/>
          <a:lstStyle>
            <a:lvl1pPr defTabSz="280924">
              <a:defRPr spc="-94" sz="9480"/>
            </a:lvl1pPr>
          </a:lstStyle>
          <a:p>
            <a:pPr/>
            <a:r>
              <a:t>Генерация ложных срабатываний</a:t>
            </a:r>
          </a:p>
        </p:txBody>
      </p:sp>
      <p:sp>
        <p:nvSpPr>
          <p:cNvPr id="260" name="В дешифраторах и шифраторах возможны ситуации, когда из-за различий в задержках по разным логическим путям появляются кратковременные ложные импульсы на выходах. Для предотвращения этого применяются синхронизация, добавление регистров или фильтрация выхо"/>
          <p:cNvSpPr txBox="1"/>
          <p:nvPr>
            <p:ph type="body" idx="1"/>
          </p:nvPr>
        </p:nvSpPr>
        <p:spPr>
          <a:prstGeom prst="rect">
            <a:avLst/>
          </a:prstGeom>
        </p:spPr>
        <p:txBody>
          <a:bodyPr/>
          <a:lstStyle>
            <a:lvl1pPr marL="0" indent="0" algn="just">
              <a:spcBef>
                <a:spcPts val="6000"/>
              </a:spcBef>
              <a:buSzTx/>
              <a:buNone/>
              <a:defRPr sz="5000"/>
            </a:lvl1pPr>
          </a:lstStyle>
          <a:p>
            <a:pPr/>
            <a:r>
              <a:t>В дешифраторах и шифраторах возможны ситуации, когда из-за различий в задержках по разным логическим путям появляются кратковременные ложные импульсы на выходах. Для предотвращения этого применяются синхронизация, добавление регистров или фильтрация выходных сигналов.</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2" name="https://radioskot.com/publ/teoria/komparatory"/>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a:defRPr u="sng">
                <a:hlinkClick r:id="" invalidUrl="" action="ppaction://hlinkshowjump?jump=nextslide" tgtFrame="" tooltip="" history="1" highlightClick="0" endSnd="0"/>
              </a:defRPr>
            </a:lvl1pPr>
          </a:lstStyle>
          <a:p>
            <a:pPr>
              <a:defRPr u="none"/>
            </a:pPr>
            <a:r>
              <a:rPr u="sng">
                <a:hlinkClick r:id="" invalidUrl="" action="ppaction://hlinkshowjump?jump=nextslide" tgtFrame="" tooltip="" history="1" highlightClick="0" endSnd="0"/>
              </a:rPr>
              <a:t>https://radioskot.com/publ/teoria/komparatory</a:t>
            </a:r>
          </a:p>
        </p:txBody>
      </p:sp>
      <p:sp>
        <p:nvSpPr>
          <p:cNvPr id="263" name="Компоратор"/>
          <p:cNvSpPr txBox="1"/>
          <p:nvPr>
            <p:ph type="title"/>
          </p:nvPr>
        </p:nvSpPr>
        <p:spPr>
          <a:prstGeom prst="rect">
            <a:avLst/>
          </a:prstGeom>
        </p:spPr>
        <p:txBody>
          <a:bodyPr/>
          <a:lstStyle/>
          <a:p>
            <a:pPr/>
            <a:r>
              <a:t>Компоратор</a:t>
            </a:r>
          </a:p>
        </p:txBody>
      </p:sp>
      <p:sp>
        <p:nvSpPr>
          <p:cNvPr id="264" name="Компаратор — это электронное устройство, предназначенное для сравнения двух входных сигналов. Он работает путем оценки разницы между этими сигналами и принятия решения о том, какой из них имеет большее значение. Результатом работы компаратора является вы"/>
          <p:cNvSpPr txBox="1"/>
          <p:nvPr>
            <p:ph type="body" idx="1"/>
          </p:nvPr>
        </p:nvSpPr>
        <p:spPr>
          <a:prstGeom prst="rect">
            <a:avLst/>
          </a:prstGeom>
        </p:spPr>
        <p:txBody>
          <a:bodyPr/>
          <a:lstStyle>
            <a:lvl1pPr marL="0" indent="0" algn="just">
              <a:spcBef>
                <a:spcPts val="6000"/>
              </a:spcBef>
              <a:buSzTx/>
              <a:buNone/>
              <a:defRPr sz="5000"/>
            </a:lvl1pPr>
          </a:lstStyle>
          <a:p>
            <a:pPr/>
            <a:r>
              <a:t>Компаратор — это электронное устройство, предназначенное для сравнения двух входных сигналов. Он работает путем оценки разницы между этими сигналами и принятия решения о том, какой из них имеет большее значение. Результатом работы компаратора является выходной сигнал, который обычно принимает два фиксированных значения: высокое или низкое, в зависимости от того, какой входной сигнал больше.</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6" name="Подзаголовок слайда"/>
          <p:cNvSpPr txBox="1"/>
          <p:nvPr>
            <p:ph type="body" idx="21"/>
          </p:nvPr>
        </p:nvSpPr>
        <p:spPr>
          <a:prstGeom prst="rect">
            <a:avLst/>
          </a:prstGeom>
        </p:spPr>
        <p:txBody>
          <a:bodyPr/>
          <a:lstStyle/>
          <a:p>
            <a:pPr/>
          </a:p>
        </p:txBody>
      </p:sp>
      <p:sp>
        <p:nvSpPr>
          <p:cNvPr id="267" name="Где используются компораторы"/>
          <p:cNvSpPr txBox="1"/>
          <p:nvPr>
            <p:ph type="title"/>
          </p:nvPr>
        </p:nvSpPr>
        <p:spPr>
          <a:prstGeom prst="rect">
            <a:avLst/>
          </a:prstGeom>
        </p:spPr>
        <p:txBody>
          <a:bodyPr/>
          <a:lstStyle>
            <a:lvl1pPr defTabSz="2316479">
              <a:defRPr spc="-95" sz="9500"/>
            </a:lvl1pPr>
          </a:lstStyle>
          <a:p>
            <a:pPr/>
            <a:r>
              <a:t>Где используются компораторы</a:t>
            </a:r>
          </a:p>
        </p:txBody>
      </p:sp>
      <p:sp>
        <p:nvSpPr>
          <p:cNvPr id="268" name="Цифровая логика и микропроцессорные системы…"/>
          <p:cNvSpPr txBox="1"/>
          <p:nvPr>
            <p:ph type="body" idx="1"/>
          </p:nvPr>
        </p:nvSpPr>
        <p:spPr>
          <a:prstGeom prst="rect">
            <a:avLst/>
          </a:prstGeom>
        </p:spPr>
        <p:txBody>
          <a:bodyPr/>
          <a:lstStyle/>
          <a:p>
            <a:pPr marL="520065" indent="-520065" defTabSz="323596">
              <a:spcBef>
                <a:spcPts val="5400"/>
              </a:spcBef>
              <a:defRPr sz="4550"/>
            </a:pPr>
            <a:r>
              <a:t>Цифровая логика и микропроцессорные системы</a:t>
            </a:r>
          </a:p>
          <a:p>
            <a:pPr marL="520065" indent="-520065" defTabSz="323596">
              <a:spcBef>
                <a:spcPts val="5400"/>
              </a:spcBef>
              <a:defRPr sz="4550"/>
            </a:pPr>
            <a:r>
              <a:t>Системы управления</a:t>
            </a:r>
          </a:p>
          <a:p>
            <a:pPr marL="520065" indent="-520065" defTabSz="323596">
              <a:spcBef>
                <a:spcPts val="5400"/>
              </a:spcBef>
              <a:defRPr sz="4550"/>
            </a:pPr>
            <a:r>
              <a:t>Преобразование аналоговых сигналов в цифровые </a:t>
            </a:r>
          </a:p>
          <a:p>
            <a:pPr marL="520065" indent="-520065" defTabSz="323596">
              <a:spcBef>
                <a:spcPts val="5400"/>
              </a:spcBef>
              <a:defRPr sz="4550"/>
            </a:pPr>
            <a:r>
              <a:t>Цифровые фильтры и детекторы</a:t>
            </a:r>
          </a:p>
          <a:p>
            <a:pPr marL="0" indent="0" defTabSz="323596">
              <a:spcBef>
                <a:spcPts val="5400"/>
              </a:spcBef>
              <a:buSzTx/>
              <a:buNone/>
              <a:defRPr sz="4550"/>
            </a:pPr>
            <a:r>
              <a:t>Компараторы имеют цель лишь проводить сравнение входных сигналов, не усиливая их. Это позволяет им работать очень быстро и точно, что делает их незаменимыми в быстродействующих системах.</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70" name="Преимущества"/>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Преимущества</a:t>
            </a:r>
          </a:p>
        </p:txBody>
      </p:sp>
      <p:sp>
        <p:nvSpPr>
          <p:cNvPr id="271" name="Преимущества и ограничения компараторов"/>
          <p:cNvSpPr txBox="1"/>
          <p:nvPr>
            <p:ph type="title"/>
          </p:nvPr>
        </p:nvSpPr>
        <p:spPr>
          <a:prstGeom prst="rect">
            <a:avLst/>
          </a:prstGeom>
        </p:spPr>
        <p:txBody>
          <a:bodyPr/>
          <a:lstStyle>
            <a:lvl1pPr defTabSz="2267711">
              <a:defRPr spc="-93" sz="9300"/>
            </a:lvl1pPr>
          </a:lstStyle>
          <a:p>
            <a:pPr/>
            <a:r>
              <a:t>Преимущества и ограничения компараторов</a:t>
            </a:r>
          </a:p>
        </p:txBody>
      </p:sp>
      <p:sp>
        <p:nvSpPr>
          <p:cNvPr id="272" name="Высокая скорость работы…"/>
          <p:cNvSpPr txBox="1"/>
          <p:nvPr>
            <p:ph type="body" idx="1"/>
          </p:nvPr>
        </p:nvSpPr>
        <p:spPr>
          <a:prstGeom prst="rect">
            <a:avLst/>
          </a:prstGeom>
        </p:spPr>
        <p:txBody>
          <a:bodyPr/>
          <a:lstStyle/>
          <a:p>
            <a:pPr marL="571500" indent="-571500">
              <a:spcBef>
                <a:spcPts val="6000"/>
              </a:spcBef>
              <a:defRPr sz="5000"/>
            </a:pPr>
            <a:r>
              <a:t>Высокая скорость работы</a:t>
            </a:r>
          </a:p>
          <a:p>
            <a:pPr marL="571500" indent="-571500">
              <a:spcBef>
                <a:spcPts val="6000"/>
              </a:spcBef>
              <a:defRPr sz="5000"/>
            </a:pPr>
            <a:r>
              <a:t>Точность</a:t>
            </a:r>
          </a:p>
          <a:p>
            <a:pPr marL="571500" indent="-571500">
              <a:spcBef>
                <a:spcPts val="6000"/>
              </a:spcBef>
              <a:defRPr sz="5000"/>
            </a:pPr>
            <a:r>
              <a:t>Простота интеграции</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74" name="Недостатки"/>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Недостатки</a:t>
            </a:r>
          </a:p>
        </p:txBody>
      </p:sp>
      <p:sp>
        <p:nvSpPr>
          <p:cNvPr id="275" name="Преимущества и ограничения компараторов"/>
          <p:cNvSpPr txBox="1"/>
          <p:nvPr>
            <p:ph type="title"/>
          </p:nvPr>
        </p:nvSpPr>
        <p:spPr>
          <a:prstGeom prst="rect">
            <a:avLst/>
          </a:prstGeom>
        </p:spPr>
        <p:txBody>
          <a:bodyPr/>
          <a:lstStyle>
            <a:lvl1pPr defTabSz="2267711">
              <a:defRPr spc="-93" sz="9300"/>
            </a:lvl1pPr>
          </a:lstStyle>
          <a:p>
            <a:pPr/>
            <a:r>
              <a:t>Преимущества и ограничения компараторов</a:t>
            </a:r>
          </a:p>
        </p:txBody>
      </p:sp>
      <p:sp>
        <p:nvSpPr>
          <p:cNvPr id="276" name="Ограничения на сравниваемые значения…"/>
          <p:cNvSpPr txBox="1"/>
          <p:nvPr>
            <p:ph type="body" idx="1"/>
          </p:nvPr>
        </p:nvSpPr>
        <p:spPr>
          <a:prstGeom prst="rect">
            <a:avLst/>
          </a:prstGeom>
        </p:spPr>
        <p:txBody>
          <a:bodyPr/>
          <a:lstStyle/>
          <a:p>
            <a:pPr marL="571500" indent="-571500">
              <a:spcBef>
                <a:spcPts val="6000"/>
              </a:spcBef>
              <a:defRPr sz="5000"/>
            </a:pPr>
            <a:r>
              <a:t>Ограничения на сравниваемые значения</a:t>
            </a:r>
          </a:p>
          <a:p>
            <a:pPr marL="571500" indent="-571500">
              <a:spcBef>
                <a:spcPts val="6000"/>
              </a:spcBef>
              <a:defRPr sz="5000"/>
            </a:pPr>
            <a:r>
              <a:t>Нуждаются в предварительном цифровом преобразовании</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78" name="Подзаголовок слайда"/>
          <p:cNvSpPr txBox="1"/>
          <p:nvPr>
            <p:ph type="body" idx="21"/>
          </p:nvPr>
        </p:nvSpPr>
        <p:spPr>
          <a:prstGeom prst="rect">
            <a:avLst/>
          </a:prstGeom>
        </p:spPr>
        <p:txBody>
          <a:bodyPr/>
          <a:lstStyle/>
          <a:p>
            <a:pPr/>
          </a:p>
        </p:txBody>
      </p:sp>
      <p:sp>
        <p:nvSpPr>
          <p:cNvPr id="279" name="Принцип работы компоратора"/>
          <p:cNvSpPr txBox="1"/>
          <p:nvPr>
            <p:ph type="title"/>
          </p:nvPr>
        </p:nvSpPr>
        <p:spPr>
          <a:prstGeom prst="rect">
            <a:avLst/>
          </a:prstGeom>
        </p:spPr>
        <p:txBody>
          <a:bodyPr/>
          <a:lstStyle>
            <a:lvl1pPr defTabSz="2316479">
              <a:defRPr spc="-95" sz="9500"/>
            </a:lvl1pPr>
          </a:lstStyle>
          <a:p>
            <a:pPr/>
            <a:r>
              <a:t>Принцип работы компоратора</a:t>
            </a:r>
          </a:p>
        </p:txBody>
      </p:sp>
      <p:sp>
        <p:nvSpPr>
          <p:cNvPr id="280" name="Цифровые компараторы используют двоичную логику для выполнения своей работы. Обычно они сравнивают два входных двоичных числа, состоящих из нескольких бит. Результатом работы цифрового компаратора является набор выходных сигналов, который сообщает, какое"/>
          <p:cNvSpPr txBox="1"/>
          <p:nvPr>
            <p:ph type="body" idx="1"/>
          </p:nvPr>
        </p:nvSpPr>
        <p:spPr>
          <a:prstGeom prst="rect">
            <a:avLst/>
          </a:prstGeom>
        </p:spPr>
        <p:txBody>
          <a:bodyPr/>
          <a:lstStyle>
            <a:lvl1pPr marL="0" indent="0" algn="just">
              <a:spcBef>
                <a:spcPts val="6000"/>
              </a:spcBef>
              <a:buSzTx/>
              <a:buNone/>
              <a:defRPr sz="5000"/>
            </a:lvl1pPr>
          </a:lstStyle>
          <a:p>
            <a:pPr/>
            <a:r>
              <a:t>Цифровые компараторы используют двоичную логику для выполнения своей работы. Обычно они сравнивают два входных двоичных числа, состоящих из нескольких бит. Результатом работы цифрового компаратора является набор выходных сигналов, который сообщает, какое из чисел больше, меньше или равно другому.</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82" name="Подзаголовок слайда"/>
          <p:cNvSpPr txBox="1"/>
          <p:nvPr>
            <p:ph type="body" idx="21"/>
          </p:nvPr>
        </p:nvSpPr>
        <p:spPr>
          <a:prstGeom prst="rect">
            <a:avLst/>
          </a:prstGeom>
        </p:spPr>
        <p:txBody>
          <a:bodyPr/>
          <a:lstStyle/>
          <a:p>
            <a:pPr/>
          </a:p>
        </p:txBody>
      </p:sp>
      <p:sp>
        <p:nvSpPr>
          <p:cNvPr id="283" name="Принцип работы компоратора"/>
          <p:cNvSpPr txBox="1"/>
          <p:nvPr>
            <p:ph type="title"/>
          </p:nvPr>
        </p:nvSpPr>
        <p:spPr>
          <a:prstGeom prst="rect">
            <a:avLst/>
          </a:prstGeom>
        </p:spPr>
        <p:txBody>
          <a:bodyPr/>
          <a:lstStyle>
            <a:lvl1pPr defTabSz="2316479">
              <a:defRPr spc="-95" sz="9500"/>
            </a:lvl1pPr>
          </a:lstStyle>
          <a:p>
            <a:pPr/>
            <a:r>
              <a:t>Принцип работы компоратора</a:t>
            </a:r>
          </a:p>
        </p:txBody>
      </p:sp>
      <p:pic>
        <p:nvPicPr>
          <p:cNvPr id="284" name="Изображение" descr="Изображение"/>
          <p:cNvPicPr>
            <a:picLocks noChangeAspect="1"/>
          </p:cNvPicPr>
          <p:nvPr/>
        </p:nvPicPr>
        <p:blipFill>
          <a:blip r:embed="rId3">
            <a:extLst/>
          </a:blip>
          <a:stretch>
            <a:fillRect/>
          </a:stretch>
        </p:blipFill>
        <p:spPr>
          <a:xfrm>
            <a:off x="1655821" y="3486150"/>
            <a:ext cx="21072358" cy="9179181"/>
          </a:xfrm>
          <a:prstGeom prst="rect">
            <a:avLst/>
          </a:prstGeom>
          <a:ln w="12700">
            <a:miter lim="400000"/>
          </a:ln>
        </p:spPr>
      </p:pic>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86" name="Подзаголовок слайда"/>
          <p:cNvSpPr txBox="1"/>
          <p:nvPr>
            <p:ph type="body" idx="21"/>
          </p:nvPr>
        </p:nvSpPr>
        <p:spPr>
          <a:prstGeom prst="rect">
            <a:avLst/>
          </a:prstGeom>
        </p:spPr>
        <p:txBody>
          <a:bodyPr/>
          <a:lstStyle/>
          <a:p>
            <a:pPr/>
          </a:p>
        </p:txBody>
      </p:sp>
      <p:sp>
        <p:nvSpPr>
          <p:cNvPr id="287" name="Принцип работы компоратора"/>
          <p:cNvSpPr txBox="1"/>
          <p:nvPr>
            <p:ph type="title"/>
          </p:nvPr>
        </p:nvSpPr>
        <p:spPr>
          <a:prstGeom prst="rect">
            <a:avLst/>
          </a:prstGeom>
        </p:spPr>
        <p:txBody>
          <a:bodyPr/>
          <a:lstStyle>
            <a:lvl1pPr defTabSz="2316479">
              <a:defRPr spc="-95" sz="9500"/>
            </a:lvl1pPr>
          </a:lstStyle>
          <a:p>
            <a:pPr/>
            <a:r>
              <a:t>Принцип работы компоратора</a:t>
            </a:r>
          </a:p>
        </p:txBody>
      </p:sp>
      <p:sp>
        <p:nvSpPr>
          <p:cNvPr id="288" name="Цифровой компаратор имеет несколько основных состояний на выходе:…"/>
          <p:cNvSpPr txBox="1"/>
          <p:nvPr>
            <p:ph type="body" idx="1"/>
          </p:nvPr>
        </p:nvSpPr>
        <p:spPr>
          <a:prstGeom prst="rect">
            <a:avLst/>
          </a:prstGeom>
        </p:spPr>
        <p:txBody>
          <a:bodyPr/>
          <a:lstStyle/>
          <a:p>
            <a:pPr marL="0" indent="0" algn="just" defTabSz="352044">
              <a:spcBef>
                <a:spcPts val="5900"/>
              </a:spcBef>
              <a:buSzTx/>
              <a:buNone/>
              <a:defRPr sz="4950"/>
            </a:pPr>
            <a:r>
              <a:t>Цифровой компаратор имеет несколько основных состояний на выходе: </a:t>
            </a:r>
          </a:p>
          <a:p>
            <a:pPr marL="226313" indent="-226313" algn="just" defTabSz="352044">
              <a:spcBef>
                <a:spcPts val="5900"/>
              </a:spcBef>
              <a:defRPr sz="4950"/>
            </a:pPr>
            <a:r>
              <a:t> </a:t>
            </a:r>
            <a:r>
              <a:rPr b="1">
                <a:latin typeface="Graphik"/>
                <a:ea typeface="Graphik"/>
                <a:cs typeface="Graphik"/>
                <a:sym typeface="Graphik"/>
              </a:rPr>
              <a:t>Равенство</a:t>
            </a:r>
            <a:r>
              <a:t>: Если оба числа равны, компаратор генерирует сигнал, указывающий на это. </a:t>
            </a:r>
          </a:p>
          <a:p>
            <a:pPr marL="226313" indent="-226313" algn="just" defTabSz="352044">
              <a:spcBef>
                <a:spcPts val="5900"/>
              </a:spcBef>
              <a:defRPr sz="4950"/>
            </a:pPr>
            <a:r>
              <a:t> </a:t>
            </a:r>
            <a:r>
              <a:rPr b="1">
                <a:latin typeface="Graphik"/>
                <a:ea typeface="Graphik"/>
                <a:cs typeface="Graphik"/>
                <a:sym typeface="Graphik"/>
              </a:rPr>
              <a:t>Меньше</a:t>
            </a:r>
            <a:r>
              <a:t>: Если первое число меньше второго, компаратор генерирует соответствующий сигнал. </a:t>
            </a:r>
          </a:p>
          <a:p>
            <a:pPr marL="226313" indent="-226313" algn="just" defTabSz="352044">
              <a:spcBef>
                <a:spcPts val="5900"/>
              </a:spcBef>
              <a:defRPr sz="4950"/>
            </a:pPr>
            <a:r>
              <a:t> </a:t>
            </a:r>
            <a:r>
              <a:rPr b="1">
                <a:latin typeface="Graphik"/>
                <a:ea typeface="Graphik"/>
                <a:cs typeface="Graphik"/>
                <a:sym typeface="Graphik"/>
              </a:rPr>
              <a:t>Больше</a:t>
            </a:r>
            <a:r>
              <a:t>: Если первое число больше второго, компаратор генерирует сигнал, который показывает это.</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6_DynamicWavesLight">
  <a:themeElements>
    <a:clrScheme name="36_DynamicWavesLight">
      <a:dk1>
        <a:srgbClr val="53585F"/>
      </a:dk1>
      <a:lt1>
        <a:srgbClr val="5F3E0C"/>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a:ea typeface="Produkt Extralight"/>
        <a:cs typeface="Produkt Extralight"/>
      </a:majorFont>
      <a:minorFont>
        <a:latin typeface="Produkt Extralight"/>
        <a:ea typeface="Produkt Extralight"/>
        <a:cs typeface="Produkt Extralight"/>
      </a:minorFont>
    </a:fontScheme>
    <a:fmtScheme name="36_DynamicWaves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6_DynamicWavesLight">
  <a:themeElements>
    <a:clrScheme name="36_DynamicWavesLight">
      <a:dk1>
        <a:srgbClr val="000000"/>
      </a:dk1>
      <a:lt1>
        <a:srgbClr val="FFFFFF"/>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a:ea typeface="Produkt Extralight"/>
        <a:cs typeface="Produkt Extralight"/>
      </a:majorFont>
      <a:minorFont>
        <a:latin typeface="Produkt Extralight"/>
        <a:ea typeface="Produkt Extralight"/>
        <a:cs typeface="Produkt Extralight"/>
      </a:minorFont>
    </a:fontScheme>
    <a:fmtScheme name="36_DynamicWaves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